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a3c1ca79ce43d3" /><Relationship Type="http://schemas.openxmlformats.org/officeDocument/2006/relationships/extended-properties" Target="/docProps/app.xml" Id="R3edcb5427f1e4559" /><Relationship Type="http://schemas.openxmlformats.org/officeDocument/2006/relationships/officeDocument" Target="/ppt/presentation.xml" Id="Ra6e5a05e567342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b2054af7754b71"/>
  </p:sldMasterIdLst>
  <p:notesMasterIdLst>
    <p:notesMasterId xmlns:r="http://schemas.openxmlformats.org/officeDocument/2006/relationships" r:id="R9dfb2bd136544b24"/>
  </p:notesMasterIdLst>
  <p:sldIdLst>
    <p:sldId xmlns:r="http://schemas.openxmlformats.org/officeDocument/2006/relationships" id="256" r:id="Re1401ff56c004fdd"/>
    <p:sldId xmlns:r="http://schemas.openxmlformats.org/officeDocument/2006/relationships" id="257" r:id="R61663236e6d44a02"/>
    <p:sldId xmlns:r="http://schemas.openxmlformats.org/officeDocument/2006/relationships" id="258" r:id="R53b26c9bf978484c"/>
    <p:sldId xmlns:r="http://schemas.openxmlformats.org/officeDocument/2006/relationships" id="259" r:id="R158cb0ca50e64cdf"/>
    <p:sldId xmlns:r="http://schemas.openxmlformats.org/officeDocument/2006/relationships" id="260" r:id="Ra0ff355d9f324ebd"/>
    <p:sldId xmlns:r="http://schemas.openxmlformats.org/officeDocument/2006/relationships" id="261" r:id="R80b6679c937b44b0"/>
    <p:sldId xmlns:r="http://schemas.openxmlformats.org/officeDocument/2006/relationships" id="262" r:id="R1484ce81a0584f6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380ec456f94327" /><Relationship Type="http://schemas.openxmlformats.org/officeDocument/2006/relationships/slideMaster" Target="/ppt/slideMasters/slideMaster1.xml" Id="R8fb2054af7754b71" /><Relationship Type="http://schemas.openxmlformats.org/officeDocument/2006/relationships/notesMaster" Target="/ppt/notesMasters/notesMaster1.xml" Id="R9dfb2bd136544b24" /><Relationship Type="http://schemas.openxmlformats.org/officeDocument/2006/relationships/presProps" Target="/ppt/presProps.xml" Id="Reba520c76b6244a5" /><Relationship Type="http://schemas.openxmlformats.org/officeDocument/2006/relationships/tableStyles" Target="/ppt/tableStyles.xml" Id="Re45094af8f404abd" /><Relationship Type="http://schemas.openxmlformats.org/officeDocument/2006/relationships/slide" Target="/ppt/slides/slide1.xml" Id="Re1401ff56c004fdd" /><Relationship Type="http://schemas.openxmlformats.org/officeDocument/2006/relationships/slide" Target="/ppt/slides/slide2.xml" Id="R61663236e6d44a02" /><Relationship Type="http://schemas.openxmlformats.org/officeDocument/2006/relationships/slide" Target="/ppt/slides/slide3.xml" Id="R53b26c9bf978484c" /><Relationship Type="http://schemas.openxmlformats.org/officeDocument/2006/relationships/slide" Target="/ppt/slides/slide4.xml" Id="R158cb0ca50e64cdf" /><Relationship Type="http://schemas.openxmlformats.org/officeDocument/2006/relationships/slide" Target="/ppt/slides/slide5.xml" Id="Ra0ff355d9f324ebd" /><Relationship Type="http://schemas.openxmlformats.org/officeDocument/2006/relationships/slide" Target="/ppt/slides/slide6.xml" Id="R80b6679c937b44b0" /><Relationship Type="http://schemas.openxmlformats.org/officeDocument/2006/relationships/slide" Target="/ppt/slides/slide7.xml" Id="R1484ce81a0584f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46d3cf8b2944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4dc204c71143df" /><Relationship Type="http://schemas.openxmlformats.org/officeDocument/2006/relationships/notesMaster" Target="/ppt/notesMasters/notesMaster1.xml" Id="Rda814668332d44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9036d21e8d41ce" /><Relationship Type="http://schemas.openxmlformats.org/officeDocument/2006/relationships/notesMaster" Target="/ppt/notesMasters/notesMaster1.xml" Id="R9a9b9fa645a147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3911feccd34797" /><Relationship Type="http://schemas.openxmlformats.org/officeDocument/2006/relationships/notesMaster" Target="/ppt/notesMasters/notesMaster1.xml" Id="Rd2e38e319d6643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fab13e9d2d4adc" /><Relationship Type="http://schemas.openxmlformats.org/officeDocument/2006/relationships/notesMaster" Target="/ppt/notesMasters/notesMaster1.xml" Id="Rec6edecb2d2e42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4721a695bd479d" /><Relationship Type="http://schemas.openxmlformats.org/officeDocument/2006/relationships/notesMaster" Target="/ppt/notesMasters/notesMaster1.xml" Id="R9ae275c33ea64b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189a17d0554f9b" /><Relationship Type="http://schemas.openxmlformats.org/officeDocument/2006/relationships/notesMaster" Target="/ppt/notesMasters/notesMaster1.xml" Id="Ra006454b46c34f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6c8dbf3f154e05" /><Relationship Type="http://schemas.openxmlformats.org/officeDocument/2006/relationships/notesMaster" Target="/ppt/notesMasters/notesMaster1.xml" Id="R89c00bfe2af247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b303ed792f4c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4c7a4b3f1b44bc" /><Relationship Type="http://schemas.openxmlformats.org/officeDocument/2006/relationships/slideLayout" Target="/ppt/slideLayouts/slideLayout1.xml" Id="R2c19aac41fb14b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19aac41fb14b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d693dc4f247f2" /><Relationship Type="http://schemas.openxmlformats.org/officeDocument/2006/relationships/image" Target="/ppt/media/image.png" Id="Rda0ff472a7654528" /><Relationship Type="http://schemas.openxmlformats.org/officeDocument/2006/relationships/notesSlide" Target="/ppt/notesSlides/notesSlide1.xml" Id="Ra7ba9889b81b45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ffbf26b0341cb" /><Relationship Type="http://schemas.openxmlformats.org/officeDocument/2006/relationships/notesSlide" Target="/ppt/notesSlides/notesSlide2.xml" Id="R7a0d07b5c4ee41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6f79eb48548f4" /><Relationship Type="http://schemas.openxmlformats.org/officeDocument/2006/relationships/image" Target="/ppt/media/image.jpeg" Id="Rf5a7da4aefe64034" /><Relationship Type="http://schemas.openxmlformats.org/officeDocument/2006/relationships/image" Target="/ppt/media/image2.jpeg" Id="R944f55bd485b49e4" /><Relationship Type="http://schemas.openxmlformats.org/officeDocument/2006/relationships/image" Target="/ppt/media/image3.jpeg" Id="R9d5a13d6bea94aca" /><Relationship Type="http://schemas.openxmlformats.org/officeDocument/2006/relationships/image" Target="/ppt/media/image4.jpeg" Id="Rcc70caf0584e4cf5" /><Relationship Type="http://schemas.openxmlformats.org/officeDocument/2006/relationships/image" Target="/ppt/media/image5.jpeg" Id="R4f5183f34abe4900" /><Relationship Type="http://schemas.openxmlformats.org/officeDocument/2006/relationships/notesSlide" Target="/ppt/notesSlides/notesSlide3.xml" Id="R57fea2e9bbd344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eece4c9324e73" /><Relationship Type="http://schemas.openxmlformats.org/officeDocument/2006/relationships/notesSlide" Target="/ppt/notesSlides/notesSlide4.xml" Id="R17537f6b30d942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b49ec131943d0" /><Relationship Type="http://schemas.openxmlformats.org/officeDocument/2006/relationships/notesSlide" Target="/ppt/notesSlides/notesSlide5.xml" Id="Rc7427e9773d744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8c7260daa413c" /><Relationship Type="http://schemas.openxmlformats.org/officeDocument/2006/relationships/notesSlide" Target="/ppt/notesSlides/notesSlide6.xml" Id="R2171d41b7f4b49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52192ccd947be" /><Relationship Type="http://schemas.openxmlformats.org/officeDocument/2006/relationships/image" Target="/ppt/media/image6.jpeg" Id="R18e24c49418d487c" /><Relationship Type="http://schemas.openxmlformats.org/officeDocument/2006/relationships/notesSlide" Target="/ppt/notesSlides/notesSlide7.xml" Id="R9d5da66e671244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0ff472a765452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EE9205FC-AC1F-40B8-888F-2874B680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2935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E">
              <a:alpha val="85098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rack">
            <a:extLst xmlns:a="http://schemas.openxmlformats.org/drawingml/2006/main">
              <a:ext uri="{FF2B5EF4-FFF2-40B4-BE49-F238E27FC236}">
                <a16:creationId xmlns:a16="http://schemas.microsoft.com/office/drawing/2014/main" id="{FC657F29-53B8-4771-8BD8-C659863F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032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AMD Developer Hackathon ACT II  |  Track 2: Video Captioning</a:t>
            </a:r>
          </a:p>
        </p:txBody>
      </p:sp>
      <p:sp>
        <p:nvSpPr>
          <p:cNvPr id="4" name="cover-tags">
            <a:extLst xmlns:a="http://schemas.openxmlformats.org/drawingml/2006/main">
              <a:ext uri="{FF2B5EF4-FFF2-40B4-BE49-F238E27FC236}">
                <a16:creationId xmlns:a16="http://schemas.microsoft.com/office/drawing/2014/main" id="{D6BC9877-6521-4640-87B8-01594A52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1032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B62E"/>
                </a:solidFill>
              </a:defRPr>
            </a:pPr>
            <a:r>
              <a:rPr sz="1125" b="1">
                <a:solidFill>
                  <a:srgbClr val="FFB62E"/>
                </a:solidFill>
              </a:rPr>
              <a:t>Dockerized • Grounded • Structured</a:t>
            </a:r>
          </a:p>
        </p:txBody>
      </p:sp>
    </p:spTree>
    <p:extLst>
      <p:ext uri="{BB962C8B-B14F-4D97-AF65-F5344CB8AC3E}">
        <p14:creationId xmlns:p14="http://schemas.microsoft.com/office/powerpoint/2010/main" val="9231246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2">
            <a:extLst xmlns:a="http://schemas.openxmlformats.org/drawingml/2006/main">
              <a:ext uri="{FF2B5EF4-FFF2-40B4-BE49-F238E27FC236}">
                <a16:creationId xmlns:a16="http://schemas.microsoft.com/office/drawing/2014/main" id="{07E56077-E92E-43B4-91E6-853B75A8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581"/>
                </a:solidFill>
              </a:defRPr>
            </a:pPr>
            <a:r>
              <a:rPr sz="1050" b="1">
                <a:solidFill>
                  <a:srgbClr val="647581"/>
                </a:solidFill>
              </a:rPr>
              <a:t>THE CHALLENGE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17EF9959-23C5-4EDF-9429-7AAEF18A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31E"/>
                </a:solidFill>
              </a:defRPr>
            </a:pPr>
            <a:r>
              <a:rPr sz="2850" b="1">
                <a:solidFill>
                  <a:srgbClr val="07131E"/>
                </a:solidFill>
              </a:rPr>
              <a:t>A caption is only useful when it stays faithful</a:t>
            </a:r>
          </a:p>
        </p:txBody>
      </p:sp>
      <p:sp>
        <p:nvSpPr>
          <p:cNvPr id="3" name="problem-claim">
            <a:extLst xmlns:a="http://schemas.openxmlformats.org/drawingml/2006/main">
              <a:ext uri="{FF2B5EF4-FFF2-40B4-BE49-F238E27FC236}">
                <a16:creationId xmlns:a16="http://schemas.microsoft.com/office/drawing/2014/main" id="{85996007-EC4C-4C93-A8E8-0CF3347E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131E"/>
                </a:solidFill>
              </a:defRPr>
            </a:pPr>
            <a:r>
              <a:rPr sz="2025" b="1">
                <a:solidFill>
                  <a:srgbClr val="07131E"/>
                </a:solidFill>
              </a:rPr>
              <a:t>One short clip must become four distinct voices without inventing what the camera never showed.</a:t>
            </a:r>
          </a:p>
        </p:txBody>
      </p:sp>
      <p:sp>
        <p:nvSpPr>
          <p:cNvPr id="4" name="problem-support">
            <a:extLst xmlns:a="http://schemas.openxmlformats.org/drawingml/2006/main">
              <a:ext uri="{FF2B5EF4-FFF2-40B4-BE49-F238E27FC236}">
                <a16:creationId xmlns:a16="http://schemas.microsoft.com/office/drawing/2014/main" id="{C3F8F712-5FE6-437B-9FA6-485D405D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581"/>
                </a:solidFill>
              </a:defRPr>
            </a:pPr>
            <a:r>
              <a:rPr sz="1425" b="0">
                <a:solidFill>
                  <a:srgbClr val="647581"/>
                </a:solidFill>
              </a:rPr>
              <a:t>The evaluation also expects machine-perfect delivery, not just creative writing.</a:t>
            </a:r>
          </a:p>
        </p:txBody>
      </p:sp>
      <p:sp>
        <p:nvSpPr>
          <p:cNvPr id="5" name="problem-accent-0">
            <a:extLst xmlns:a="http://schemas.openxmlformats.org/drawingml/2006/main">
              <a:ext uri="{FF2B5EF4-FFF2-40B4-BE49-F238E27FC236}">
                <a16:creationId xmlns:a16="http://schemas.microsoft.com/office/drawing/2014/main" id="{6BC2D2F4-B6A2-4091-B641-6046A447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28775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oblem-num-0">
            <a:extLst xmlns:a="http://schemas.openxmlformats.org/drawingml/2006/main">
              <a:ext uri="{FF2B5EF4-FFF2-40B4-BE49-F238E27FC236}">
                <a16:creationId xmlns:a16="http://schemas.microsoft.com/office/drawing/2014/main" id="{6873D6CD-DC44-4ED6-BD3B-AE435488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287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C5E8"/>
                </a:solidFill>
              </a:defRPr>
            </a:pPr>
            <a:r>
              <a:rPr sz="1125" b="1">
                <a:solidFill>
                  <a:srgbClr val="20C5E8"/>
                </a:solidFill>
              </a:rPr>
              <a:t>01</a:t>
            </a:r>
          </a:p>
        </p:txBody>
      </p:sp>
      <p:sp>
        <p:nvSpPr>
          <p:cNvPr id="7" name="problem-head-0">
            <a:extLst xmlns:a="http://schemas.openxmlformats.org/drawingml/2006/main">
              <a:ext uri="{FF2B5EF4-FFF2-40B4-BE49-F238E27FC236}">
                <a16:creationId xmlns:a16="http://schemas.microsoft.com/office/drawing/2014/main" id="{3B0AE7C7-0BF9-470E-B052-A0994256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097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31E"/>
                </a:solidFill>
              </a:defRPr>
            </a:pPr>
            <a:r>
              <a:rPr sz="1650" b="1">
                <a:solidFill>
                  <a:srgbClr val="07131E"/>
                </a:solidFill>
              </a:rPr>
              <a:t>Visual grounding</a:t>
            </a:r>
          </a:p>
        </p:txBody>
      </p:sp>
      <p:sp>
        <p:nvSpPr>
          <p:cNvPr id="8" name="problem-body-0">
            <a:extLst xmlns:a="http://schemas.openxmlformats.org/drawingml/2006/main">
              <a:ext uri="{FF2B5EF4-FFF2-40B4-BE49-F238E27FC236}">
                <a16:creationId xmlns:a16="http://schemas.microsoft.com/office/drawing/2014/main" id="{58996AA1-AA55-4D48-9B8D-DE31D5F1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5262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581"/>
                </a:solidFill>
              </a:defRPr>
            </a:pPr>
            <a:r>
              <a:rPr sz="1200" b="0">
                <a:solidFill>
                  <a:srgbClr val="647581"/>
                </a:solidFill>
              </a:rPr>
              <a:t>Describe only subjects and actions supported by sampled frames.</a:t>
            </a:r>
          </a:p>
        </p:txBody>
      </p:sp>
      <p:sp>
        <p:nvSpPr>
          <p:cNvPr id="9" name="problem-accent-1">
            <a:extLst xmlns:a="http://schemas.openxmlformats.org/drawingml/2006/main">
              <a:ext uri="{FF2B5EF4-FFF2-40B4-BE49-F238E27FC236}">
                <a16:creationId xmlns:a16="http://schemas.microsoft.com/office/drawing/2014/main" id="{2B70CC1E-7006-489E-A96D-603F4C74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57475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6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oblem-num-1">
            <a:extLst xmlns:a="http://schemas.openxmlformats.org/drawingml/2006/main">
              <a:ext uri="{FF2B5EF4-FFF2-40B4-BE49-F238E27FC236}">
                <a16:creationId xmlns:a16="http://schemas.microsoft.com/office/drawing/2014/main" id="{337DA039-367A-4002-B904-28EA654D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574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62E"/>
                </a:solidFill>
              </a:defRPr>
            </a:pPr>
            <a:r>
              <a:rPr sz="1125" b="1">
                <a:solidFill>
                  <a:srgbClr val="FFB62E"/>
                </a:solidFill>
              </a:rPr>
              <a:t>02</a:t>
            </a:r>
          </a:p>
        </p:txBody>
      </p:sp>
      <p:sp>
        <p:nvSpPr>
          <p:cNvPr id="11" name="problem-head-1">
            <a:extLst xmlns:a="http://schemas.openxmlformats.org/drawingml/2006/main">
              <a:ext uri="{FF2B5EF4-FFF2-40B4-BE49-F238E27FC236}">
                <a16:creationId xmlns:a16="http://schemas.microsoft.com/office/drawing/2014/main" id="{A56DB4AD-358B-4827-929F-A32C6356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384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31E"/>
                </a:solidFill>
              </a:defRPr>
            </a:pPr>
            <a:r>
              <a:rPr sz="1650" b="1">
                <a:solidFill>
                  <a:srgbClr val="07131E"/>
                </a:solidFill>
              </a:rPr>
              <a:t>Four style targets</a:t>
            </a:r>
          </a:p>
        </p:txBody>
      </p:sp>
      <p:sp>
        <p:nvSpPr>
          <p:cNvPr id="12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B5C47AB3-EB16-42CF-B099-4BA92570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8132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581"/>
                </a:solidFill>
              </a:defRPr>
            </a:pPr>
            <a:r>
              <a:rPr sz="1200" b="0">
                <a:solidFill>
                  <a:srgbClr val="647581"/>
                </a:solidFill>
              </a:rPr>
              <a:t>Formal, sarcastic, humorous tech, and everyday humor.</a:t>
            </a:r>
          </a:p>
        </p:txBody>
      </p:sp>
      <p:sp>
        <p:nvSpPr>
          <p:cNvPr id="13" name="problem-accent-2">
            <a:extLst xmlns:a="http://schemas.openxmlformats.org/drawingml/2006/main">
              <a:ext uri="{FF2B5EF4-FFF2-40B4-BE49-F238E27FC236}">
                <a16:creationId xmlns:a16="http://schemas.microsoft.com/office/drawing/2014/main" id="{333E881C-465E-4CB9-8C71-1C77ED5F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86175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4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oblem-num-2">
            <a:extLst xmlns:a="http://schemas.openxmlformats.org/drawingml/2006/main">
              <a:ext uri="{FF2B5EF4-FFF2-40B4-BE49-F238E27FC236}">
                <a16:creationId xmlns:a16="http://schemas.microsoft.com/office/drawing/2014/main" id="{3E287A51-5528-4EB3-B04C-05CF2F9E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861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45D"/>
                </a:solidFill>
              </a:defRPr>
            </a:pPr>
            <a:r>
              <a:rPr sz="1125" b="1">
                <a:solidFill>
                  <a:srgbClr val="FF745D"/>
                </a:solidFill>
              </a:rPr>
              <a:t>03</a:t>
            </a:r>
          </a:p>
        </p:txBody>
      </p:sp>
      <p:sp>
        <p:nvSpPr>
          <p:cNvPr id="15" name="problem-head-2">
            <a:extLst xmlns:a="http://schemas.openxmlformats.org/drawingml/2006/main">
              <a:ext uri="{FF2B5EF4-FFF2-40B4-BE49-F238E27FC236}">
                <a16:creationId xmlns:a16="http://schemas.microsoft.com/office/drawing/2014/main" id="{476965EE-B270-4BE4-ABDB-2B6A2F69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671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31E"/>
                </a:solidFill>
              </a:defRPr>
            </a:pPr>
            <a:r>
              <a:rPr sz="1650" b="1">
                <a:solidFill>
                  <a:srgbClr val="07131E"/>
                </a:solidFill>
              </a:rPr>
              <a:t>Strict output contract</a:t>
            </a:r>
          </a:p>
        </p:txBody>
      </p:sp>
      <p:sp>
        <p:nvSpPr>
          <p:cNvPr id="16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F937EFB8-5221-4591-B762-0BE24F2C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1002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581"/>
                </a:solidFill>
              </a:defRPr>
            </a:pPr>
            <a:r>
              <a:rPr sz="1200" b="0">
                <a:solidFill>
                  <a:srgbClr val="647581"/>
                </a:solidFill>
              </a:rPr>
              <a:t>Every requested key must appear in valid results.json.</a:t>
            </a:r>
          </a:p>
        </p:txBody>
      </p:sp>
      <p:sp>
        <p:nvSpPr>
          <p:cNvPr id="17" name="problem-accent-3">
            <a:extLst xmlns:a="http://schemas.openxmlformats.org/drawingml/2006/main">
              <a:ext uri="{FF2B5EF4-FFF2-40B4-BE49-F238E27FC236}">
                <a16:creationId xmlns:a16="http://schemas.microsoft.com/office/drawing/2014/main" id="{0CFCD16A-5259-4EDB-A26A-A6C77804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14875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C8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roblem-num-3">
            <a:extLst xmlns:a="http://schemas.openxmlformats.org/drawingml/2006/main">
              <a:ext uri="{FF2B5EF4-FFF2-40B4-BE49-F238E27FC236}">
                <a16:creationId xmlns:a16="http://schemas.microsoft.com/office/drawing/2014/main" id="{E20289E7-13AE-4088-9703-71F564A7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148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C89A"/>
                </a:solidFill>
              </a:defRPr>
            </a:pPr>
            <a:r>
              <a:rPr sz="1125" b="1">
                <a:solidFill>
                  <a:srgbClr val="43C89A"/>
                </a:solidFill>
              </a:rPr>
              <a:t>04</a:t>
            </a:r>
          </a:p>
        </p:txBody>
      </p:sp>
      <p:sp>
        <p:nvSpPr>
          <p:cNvPr id="19" name="problem-head-3">
            <a:extLst xmlns:a="http://schemas.openxmlformats.org/drawingml/2006/main">
              <a:ext uri="{FF2B5EF4-FFF2-40B4-BE49-F238E27FC236}">
                <a16:creationId xmlns:a16="http://schemas.microsoft.com/office/drawing/2014/main" id="{757052C6-E91A-4735-8E43-C9D1DF34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958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31E"/>
                </a:solidFill>
              </a:defRPr>
            </a:pPr>
            <a:r>
              <a:rPr sz="1650" b="1">
                <a:solidFill>
                  <a:srgbClr val="07131E"/>
                </a:solidFill>
              </a:rPr>
              <a:t>Runtime resilience</a:t>
            </a:r>
          </a:p>
        </p:txBody>
      </p:sp>
      <p:sp>
        <p:nvSpPr>
          <p:cNvPr id="20" name="problem-body-3">
            <a:extLst xmlns:a="http://schemas.openxmlformats.org/drawingml/2006/main">
              <a:ext uri="{FF2B5EF4-FFF2-40B4-BE49-F238E27FC236}">
                <a16:creationId xmlns:a16="http://schemas.microsoft.com/office/drawing/2014/main" id="{7F137D83-8875-4326-B485-1B8AD3BF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3872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581"/>
                </a:solidFill>
              </a:defRPr>
            </a:pPr>
            <a:r>
              <a:rPr sz="1200" b="0">
                <a:solidFill>
                  <a:srgbClr val="647581"/>
                </a:solidFill>
              </a:rPr>
              <a:t>Finish within ten minutes and exit cleanly on handled failures.</a:t>
            </a:r>
          </a:p>
        </p:txBody>
      </p:sp>
      <p:sp>
        <p:nvSpPr>
          <p:cNvPr id="21" name="footer-2">
            <a:extLst xmlns:a="http://schemas.openxmlformats.org/drawingml/2006/main">
              <a:ext uri="{FF2B5EF4-FFF2-40B4-BE49-F238E27FC236}">
                <a16:creationId xmlns:a16="http://schemas.microsoft.com/office/drawing/2014/main" id="{02256032-43C6-4B12-823E-E80430A6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581"/>
                </a:solidFill>
              </a:defRPr>
            </a:pPr>
            <a:r>
              <a:rPr sz="900" b="1">
                <a:solidFill>
                  <a:srgbClr val="647581"/>
                </a:solidFill>
              </a:rPr>
              <a:t>LUNALENS  |  AMD DEVELOPER HACKATHON ACT II</a:t>
            </a:r>
          </a:p>
        </p:txBody>
      </p:sp>
      <p:sp>
        <p:nvSpPr>
          <p:cNvPr id="22" name="page-2">
            <a:extLst xmlns:a="http://schemas.openxmlformats.org/drawingml/2006/main">
              <a:ext uri="{FF2B5EF4-FFF2-40B4-BE49-F238E27FC236}">
                <a16:creationId xmlns:a16="http://schemas.microsoft.com/office/drawing/2014/main" id="{7F0D457B-5239-4A4D-8CB1-4264EFDB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581"/>
                </a:solidFill>
              </a:defRPr>
            </a:pPr>
            <a:r>
              <a:rPr sz="900" b="1">
                <a:solidFill>
                  <a:srgbClr val="647581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039802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3">
            <a:extLst xmlns:a="http://schemas.openxmlformats.org/drawingml/2006/main">
              <a:ext uri="{FF2B5EF4-FFF2-40B4-BE49-F238E27FC236}">
                <a16:creationId xmlns:a16="http://schemas.microsoft.com/office/drawing/2014/main" id="{E4F6C4B4-54FB-4248-A51A-D8F4F027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581"/>
                </a:solidFill>
              </a:defRPr>
            </a:pPr>
            <a:r>
              <a:rPr sz="1050" b="1">
                <a:solidFill>
                  <a:srgbClr val="647581"/>
                </a:solidFill>
              </a:rPr>
              <a:t>HOW IT WORKS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F54CBC50-3557-44C2-BDA2-ECDEB9BB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31E"/>
                </a:solidFill>
              </a:defRPr>
            </a:pPr>
            <a:r>
              <a:rPr sz="2850" b="1">
                <a:solidFill>
                  <a:srgbClr val="07131E"/>
                </a:solidFill>
              </a:rPr>
              <a:t>The pipeline turns sparse frames into grounded voices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7da4aefe64034"/>
          <a:srcRect xmlns:a="http://schemas.openxmlformats.org/drawingml/2006/main" l="0" t="53" r="0" b="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562100"/>
            <a:ext cx="2000250" cy="1123950"/>
          </a:xfrm>
          <a:prstGeom xmlns:a="http://schemas.openxmlformats.org/drawingml/2006/main" prst="rect">
            <a:avLst/>
          </a:prstGeom>
        </p:spPr>
      </p:pic>
      <p:sp>
        <p:nvSpPr>
          <p:cNvPr id="4" name="frame-label-0">
            <a:extLst xmlns:a="http://schemas.openxmlformats.org/drawingml/2006/main">
              <a:ext uri="{FF2B5EF4-FFF2-40B4-BE49-F238E27FC236}">
                <a16:creationId xmlns:a16="http://schemas.microsoft.com/office/drawing/2014/main" id="{FF6139DF-8DC0-4942-9543-22E18807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t1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4f55bd485b49e4"/>
          <a:srcRect xmlns:a="http://schemas.openxmlformats.org/drawingml/2006/main" l="0" t="53" r="0" b="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24150" y="1562100"/>
            <a:ext cx="2000250" cy="1123950"/>
          </a:xfrm>
          <a:prstGeom xmlns:a="http://schemas.openxmlformats.org/drawingml/2006/main" prst="rect">
            <a:avLst/>
          </a:prstGeom>
        </p:spPr>
      </p:pic>
      <p:sp>
        <p:nvSpPr>
          <p:cNvPr id="6" name="frame-label-1">
            <a:extLst xmlns:a="http://schemas.openxmlformats.org/drawingml/2006/main">
              <a:ext uri="{FF2B5EF4-FFF2-40B4-BE49-F238E27FC236}">
                <a16:creationId xmlns:a16="http://schemas.microsoft.com/office/drawing/2014/main" id="{692CDBA5-FD10-4C28-BFB0-FAC9A94D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003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t2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a13d6bea94aca"/>
          <a:srcRect xmlns:a="http://schemas.openxmlformats.org/drawingml/2006/main" l="0" t="53" r="0" b="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33950" y="1562100"/>
            <a:ext cx="2000250" cy="1123950"/>
          </a:xfrm>
          <a:prstGeom xmlns:a="http://schemas.openxmlformats.org/drawingml/2006/main" prst="rect">
            <a:avLst/>
          </a:prstGeom>
        </p:spPr>
      </p:pic>
      <p:sp>
        <p:nvSpPr>
          <p:cNvPr id="8" name="frame-label-2">
            <a:extLst xmlns:a="http://schemas.openxmlformats.org/drawingml/2006/main">
              <a:ext uri="{FF2B5EF4-FFF2-40B4-BE49-F238E27FC236}">
                <a16:creationId xmlns:a16="http://schemas.microsoft.com/office/drawing/2014/main" id="{911870C8-0A02-4B3B-B87D-D53BE97D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003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t3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70caf0584e4cf5"/>
          <a:srcRect xmlns:a="http://schemas.openxmlformats.org/drawingml/2006/main" l="0" t="53" r="0" b="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0" y="1562100"/>
            <a:ext cx="2000250" cy="1123950"/>
          </a:xfrm>
          <a:prstGeom xmlns:a="http://schemas.openxmlformats.org/drawingml/2006/main" prst="rect">
            <a:avLst/>
          </a:prstGeom>
        </p:spPr>
      </p:pic>
      <p:sp>
        <p:nvSpPr>
          <p:cNvPr id="10" name="frame-label-3">
            <a:extLst xmlns:a="http://schemas.openxmlformats.org/drawingml/2006/main">
              <a:ext uri="{FF2B5EF4-FFF2-40B4-BE49-F238E27FC236}">
                <a16:creationId xmlns:a16="http://schemas.microsoft.com/office/drawing/2014/main" id="{7B9E425A-8005-4760-9C69-861E80AA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t4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5183f34abe4900"/>
          <a:srcRect xmlns:a="http://schemas.openxmlformats.org/drawingml/2006/main" l="0" t="53" r="0" b="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53550" y="1562100"/>
            <a:ext cx="2000250" cy="1123950"/>
          </a:xfrm>
          <a:prstGeom xmlns:a="http://schemas.openxmlformats.org/drawingml/2006/main" prst="rect">
            <a:avLst/>
          </a:prstGeom>
        </p:spPr>
      </p:pic>
      <p:sp>
        <p:nvSpPr>
          <p:cNvPr id="12" name="frame-label-4">
            <a:extLst xmlns:a="http://schemas.openxmlformats.org/drawingml/2006/main">
              <a:ext uri="{FF2B5EF4-FFF2-40B4-BE49-F238E27FC236}">
                <a16:creationId xmlns:a16="http://schemas.microsoft.com/office/drawing/2014/main" id="{738CB382-BF76-456A-8254-281B594F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003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t5</a:t>
            </a:r>
          </a:p>
        </p:txBody>
      </p:sp>
      <p:sp>
        <p:nvSpPr>
          <p:cNvPr id="13" name="connector-0">
            <a:extLst xmlns:a="http://schemas.openxmlformats.org/drawingml/2006/main">
              <a:ext uri="{FF2B5EF4-FFF2-40B4-BE49-F238E27FC236}">
                <a16:creationId xmlns:a16="http://schemas.microsoft.com/office/drawing/2014/main" id="{C79F77BC-3591-4285-8F6C-8AB9187B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243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0">
            <a:extLst xmlns:a="http://schemas.openxmlformats.org/drawingml/2006/main">
              <a:ext uri="{FF2B5EF4-FFF2-40B4-BE49-F238E27FC236}">
                <a16:creationId xmlns:a16="http://schemas.microsoft.com/office/drawing/2014/main" id="{46BAA560-246E-4F1A-8448-1E664828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2825"/>
            <a:ext cx="14668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F"/>
            </a:solidFill>
            <a:prstDash val="solid"/>
          </a:ln>
        </p:spPr>
      </p:sp>
      <p:sp>
        <p:nvSpPr>
          <p:cNvPr id="15" name="step-num-bg-0">
            <a:extLst xmlns:a="http://schemas.openxmlformats.org/drawingml/2006/main">
              <a:ext uri="{FF2B5EF4-FFF2-40B4-BE49-F238E27FC236}">
                <a16:creationId xmlns:a16="http://schemas.microsoft.com/office/drawing/2014/main" id="{CF02CB40-16E0-4AF9-95DC-E9BC1F1D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0C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ep-num-0">
            <a:extLst xmlns:a="http://schemas.openxmlformats.org/drawingml/2006/main">
              <a:ext uri="{FF2B5EF4-FFF2-40B4-BE49-F238E27FC236}">
                <a16:creationId xmlns:a16="http://schemas.microsoft.com/office/drawing/2014/main" id="{34BD7768-8CC2-4F93-82C9-260E064B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D1D2A"/>
                </a:solidFill>
              </a:defRPr>
            </a:pPr>
            <a:r>
              <a:rPr sz="1125" b="1">
                <a:solidFill>
                  <a:srgbClr val="0D1D2A"/>
                </a:solidFill>
              </a:rPr>
              <a:t>1</a:t>
            </a:r>
          </a:p>
        </p:txBody>
      </p:sp>
      <p:sp>
        <p:nvSpPr>
          <p:cNvPr id="17" name="step-head-0">
            <a:extLst xmlns:a="http://schemas.openxmlformats.org/drawingml/2006/main">
              <a:ext uri="{FF2B5EF4-FFF2-40B4-BE49-F238E27FC236}">
                <a16:creationId xmlns:a16="http://schemas.microsoft.com/office/drawing/2014/main" id="{22BAA43B-CF1E-41D4-8FCF-D5493772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052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31E"/>
                </a:solidFill>
              </a:defRPr>
            </a:pPr>
            <a:r>
              <a:rPr sz="1425" b="1">
                <a:solidFill>
                  <a:srgbClr val="07131E"/>
                </a:solidFill>
              </a:rPr>
              <a:t>Ingest</a:t>
            </a:r>
          </a:p>
        </p:txBody>
      </p:sp>
      <p:sp>
        <p:nvSpPr>
          <p:cNvPr id="18" name="step-body-0">
            <a:extLst xmlns:a="http://schemas.openxmlformats.org/drawingml/2006/main">
              <a:ext uri="{FF2B5EF4-FFF2-40B4-BE49-F238E27FC236}">
                <a16:creationId xmlns:a16="http://schemas.microsoft.com/office/drawing/2014/main" id="{FAAD18D2-44A3-46C0-9FAD-8702A4DA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581"/>
                </a:solidFill>
              </a:defRPr>
            </a:pPr>
            <a:r>
              <a:rPr sz="1050" b="0">
                <a:solidFill>
                  <a:srgbClr val="647581"/>
                </a:solidFill>
              </a:rPr>
              <a:t>tasks.json</a:t>
            </a:r>
          </a:p>
        </p:txBody>
      </p:sp>
      <p:sp>
        <p:nvSpPr>
          <p:cNvPr id="19" name="connector-1">
            <a:extLst xmlns:a="http://schemas.openxmlformats.org/drawingml/2006/main">
              <a:ext uri="{FF2B5EF4-FFF2-40B4-BE49-F238E27FC236}">
                <a16:creationId xmlns:a16="http://schemas.microsoft.com/office/drawing/2014/main" id="{00F2E2D6-CCEF-468F-809C-272ABFA1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243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ep-1">
            <a:extLst xmlns:a="http://schemas.openxmlformats.org/drawingml/2006/main">
              <a:ext uri="{FF2B5EF4-FFF2-40B4-BE49-F238E27FC236}">
                <a16:creationId xmlns:a16="http://schemas.microsoft.com/office/drawing/2014/main" id="{7230BFF4-E8C8-4F0A-B3BB-F08700DB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52825"/>
            <a:ext cx="14668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F"/>
            </a:solidFill>
            <a:prstDash val="solid"/>
          </a:ln>
        </p:spPr>
      </p:sp>
      <p:sp>
        <p:nvSpPr>
          <p:cNvPr id="21" name="step-num-bg-1">
            <a:extLst xmlns:a="http://schemas.openxmlformats.org/drawingml/2006/main">
              <a:ext uri="{FF2B5EF4-FFF2-40B4-BE49-F238E27FC236}">
                <a16:creationId xmlns:a16="http://schemas.microsoft.com/office/drawing/2014/main" id="{DDE83576-8E55-4754-A0EA-5CEE1231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7147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B6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tep-num-1">
            <a:extLst xmlns:a="http://schemas.openxmlformats.org/drawingml/2006/main">
              <a:ext uri="{FF2B5EF4-FFF2-40B4-BE49-F238E27FC236}">
                <a16:creationId xmlns:a16="http://schemas.microsoft.com/office/drawing/2014/main" id="{1B8EF951-116A-4323-BF1B-804DE126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7623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D1D2A"/>
                </a:solidFill>
              </a:defRPr>
            </a:pPr>
            <a:r>
              <a:rPr sz="1125" b="1">
                <a:solidFill>
                  <a:srgbClr val="0D1D2A"/>
                </a:solidFill>
              </a:rPr>
              <a:t>2</a:t>
            </a:r>
          </a:p>
        </p:txBody>
      </p:sp>
      <p:sp>
        <p:nvSpPr>
          <p:cNvPr id="23" name="step-head-1">
            <a:extLst xmlns:a="http://schemas.openxmlformats.org/drawingml/2006/main">
              <a:ext uri="{FF2B5EF4-FFF2-40B4-BE49-F238E27FC236}">
                <a16:creationId xmlns:a16="http://schemas.microsoft.com/office/drawing/2014/main" id="{36D6D814-6F6F-4848-A083-62EA81A1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0052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31E"/>
                </a:solidFill>
              </a:defRPr>
            </a:pPr>
            <a:r>
              <a:rPr sz="1425" b="1">
                <a:solidFill>
                  <a:srgbClr val="07131E"/>
                </a:solidFill>
              </a:rPr>
              <a:t>Sample</a:t>
            </a:r>
          </a:p>
        </p:txBody>
      </p:sp>
      <p:sp>
        <p:nvSpPr>
          <p:cNvPr id="24" name="step-body-1">
            <a:extLst xmlns:a="http://schemas.openxmlformats.org/drawingml/2006/main">
              <a:ext uri="{FF2B5EF4-FFF2-40B4-BE49-F238E27FC236}">
                <a16:creationId xmlns:a16="http://schemas.microsoft.com/office/drawing/2014/main" id="{5D1B6996-D9D0-4F70-A32F-2F9304FF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49580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581"/>
                </a:solidFill>
              </a:defRPr>
            </a:pPr>
            <a:r>
              <a:rPr sz="1050" b="0">
                <a:solidFill>
                  <a:srgbClr val="647581"/>
                </a:solidFill>
              </a:rPr>
              <a:t>8 JPEG frames</a:t>
            </a:r>
          </a:p>
        </p:txBody>
      </p:sp>
      <p:sp>
        <p:nvSpPr>
          <p:cNvPr id="25" name="connector-2">
            <a:extLst xmlns:a="http://schemas.openxmlformats.org/drawingml/2006/main">
              <a:ext uri="{FF2B5EF4-FFF2-40B4-BE49-F238E27FC236}">
                <a16:creationId xmlns:a16="http://schemas.microsoft.com/office/drawing/2014/main" id="{07BC49FB-46B2-4CC8-9DC9-24AF6593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243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tep-2">
            <a:extLst xmlns:a="http://schemas.openxmlformats.org/drawingml/2006/main">
              <a:ext uri="{FF2B5EF4-FFF2-40B4-BE49-F238E27FC236}">
                <a16:creationId xmlns:a16="http://schemas.microsoft.com/office/drawing/2014/main" id="{D5D64711-0F0A-45E1-B4D8-B188766B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52825"/>
            <a:ext cx="14668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F"/>
            </a:solidFill>
            <a:prstDash val="solid"/>
          </a:ln>
        </p:spPr>
      </p:sp>
      <p:sp>
        <p:nvSpPr>
          <p:cNvPr id="27" name="step-num-bg-2">
            <a:extLst xmlns:a="http://schemas.openxmlformats.org/drawingml/2006/main">
              <a:ext uri="{FF2B5EF4-FFF2-40B4-BE49-F238E27FC236}">
                <a16:creationId xmlns:a16="http://schemas.microsoft.com/office/drawing/2014/main" id="{43D14318-8FF7-487D-B794-0D3B9763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147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0C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tep-num-2">
            <a:extLst xmlns:a="http://schemas.openxmlformats.org/drawingml/2006/main">
              <a:ext uri="{FF2B5EF4-FFF2-40B4-BE49-F238E27FC236}">
                <a16:creationId xmlns:a16="http://schemas.microsoft.com/office/drawing/2014/main" id="{2EFCC7A0-E787-4620-9199-036A9986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623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D1D2A"/>
                </a:solidFill>
              </a:defRPr>
            </a:pPr>
            <a:r>
              <a:rPr sz="1125" b="1">
                <a:solidFill>
                  <a:srgbClr val="0D1D2A"/>
                </a:solidFill>
              </a:rPr>
              <a:t>3</a:t>
            </a:r>
          </a:p>
        </p:txBody>
      </p:sp>
      <p:sp>
        <p:nvSpPr>
          <p:cNvPr id="29" name="step-head-2">
            <a:extLst xmlns:a="http://schemas.openxmlformats.org/drawingml/2006/main">
              <a:ext uri="{FF2B5EF4-FFF2-40B4-BE49-F238E27FC236}">
                <a16:creationId xmlns:a16="http://schemas.microsoft.com/office/drawing/2014/main" id="{4487D674-D574-4DF3-9370-7A1F3D43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0052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31E"/>
                </a:solidFill>
              </a:defRPr>
            </a:pPr>
            <a:r>
              <a:rPr sz="1425" b="1">
                <a:solidFill>
                  <a:srgbClr val="07131E"/>
                </a:solidFill>
              </a:rPr>
              <a:t>Observe</a:t>
            </a:r>
          </a:p>
        </p:txBody>
      </p:sp>
      <p:sp>
        <p:nvSpPr>
          <p:cNvPr id="30" name="step-body-2">
            <a:extLst xmlns:a="http://schemas.openxmlformats.org/drawingml/2006/main">
              <a:ext uri="{FF2B5EF4-FFF2-40B4-BE49-F238E27FC236}">
                <a16:creationId xmlns:a16="http://schemas.microsoft.com/office/drawing/2014/main" id="{3A069BB5-B649-4E3A-B80F-657FC3BB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9580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581"/>
                </a:solidFill>
              </a:defRPr>
            </a:pPr>
            <a:r>
              <a:rPr sz="1050" b="0">
                <a:solidFill>
                  <a:srgbClr val="647581"/>
                </a:solidFill>
              </a:rPr>
              <a:t>visual facts</a:t>
            </a:r>
          </a:p>
        </p:txBody>
      </p:sp>
      <p:sp>
        <p:nvSpPr>
          <p:cNvPr id="31" name="connector-3">
            <a:extLst xmlns:a="http://schemas.openxmlformats.org/drawingml/2006/main">
              <a:ext uri="{FF2B5EF4-FFF2-40B4-BE49-F238E27FC236}">
                <a16:creationId xmlns:a16="http://schemas.microsoft.com/office/drawing/2014/main" id="{50FB4118-0867-4355-8AF4-6233A69C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243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tep-3">
            <a:extLst xmlns:a="http://schemas.openxmlformats.org/drawingml/2006/main">
              <a:ext uri="{FF2B5EF4-FFF2-40B4-BE49-F238E27FC236}">
                <a16:creationId xmlns:a16="http://schemas.microsoft.com/office/drawing/2014/main" id="{F9B9010F-1849-4998-933B-79021FD1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52825"/>
            <a:ext cx="14668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F"/>
            </a:solidFill>
            <a:prstDash val="solid"/>
          </a:ln>
        </p:spPr>
      </p:sp>
      <p:sp>
        <p:nvSpPr>
          <p:cNvPr id="33" name="step-num-bg-3">
            <a:extLst xmlns:a="http://schemas.openxmlformats.org/drawingml/2006/main">
              <a:ext uri="{FF2B5EF4-FFF2-40B4-BE49-F238E27FC236}">
                <a16:creationId xmlns:a16="http://schemas.microsoft.com/office/drawing/2014/main" id="{1EBA01E6-B9A8-4998-B5F6-44F4C27B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147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B6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tep-num-3">
            <a:extLst xmlns:a="http://schemas.openxmlformats.org/drawingml/2006/main">
              <a:ext uri="{FF2B5EF4-FFF2-40B4-BE49-F238E27FC236}">
                <a16:creationId xmlns:a16="http://schemas.microsoft.com/office/drawing/2014/main" id="{DE921CCF-7DA6-46E0-8D57-E23A6D0E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623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D1D2A"/>
                </a:solidFill>
              </a:defRPr>
            </a:pPr>
            <a:r>
              <a:rPr sz="1125" b="1">
                <a:solidFill>
                  <a:srgbClr val="0D1D2A"/>
                </a:solidFill>
              </a:rPr>
              <a:t>4</a:t>
            </a:r>
          </a:p>
        </p:txBody>
      </p:sp>
      <p:sp>
        <p:nvSpPr>
          <p:cNvPr id="35" name="step-head-3">
            <a:extLst xmlns:a="http://schemas.openxmlformats.org/drawingml/2006/main">
              <a:ext uri="{FF2B5EF4-FFF2-40B4-BE49-F238E27FC236}">
                <a16:creationId xmlns:a16="http://schemas.microsoft.com/office/drawing/2014/main" id="{92DE92A6-99E0-4308-9FAF-150DAE32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0052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31E"/>
                </a:solidFill>
              </a:defRPr>
            </a:pPr>
            <a:r>
              <a:rPr sz="1425" b="1">
                <a:solidFill>
                  <a:srgbClr val="07131E"/>
                </a:solidFill>
              </a:rPr>
              <a:t>Create</a:t>
            </a:r>
          </a:p>
        </p:txBody>
      </p:sp>
      <p:sp>
        <p:nvSpPr>
          <p:cNvPr id="36" name="step-body-3">
            <a:extLst xmlns:a="http://schemas.openxmlformats.org/drawingml/2006/main">
              <a:ext uri="{FF2B5EF4-FFF2-40B4-BE49-F238E27FC236}">
                <a16:creationId xmlns:a16="http://schemas.microsoft.com/office/drawing/2014/main" id="{A2E55E9D-F717-47E7-A698-4206A9B1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9580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581"/>
                </a:solidFill>
              </a:defRPr>
            </a:pPr>
            <a:r>
              <a:rPr sz="1050" b="0">
                <a:solidFill>
                  <a:srgbClr val="647581"/>
                </a:solidFill>
              </a:rPr>
              <a:t>style candidates</a:t>
            </a:r>
          </a:p>
        </p:txBody>
      </p:sp>
      <p:sp>
        <p:nvSpPr>
          <p:cNvPr id="37" name="connector-4">
            <a:extLst xmlns:a="http://schemas.openxmlformats.org/drawingml/2006/main">
              <a:ext uri="{FF2B5EF4-FFF2-40B4-BE49-F238E27FC236}">
                <a16:creationId xmlns:a16="http://schemas.microsoft.com/office/drawing/2014/main" id="{19275BD1-5528-4375-A96F-339657B8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243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tep-4">
            <a:extLst xmlns:a="http://schemas.openxmlformats.org/drawingml/2006/main">
              <a:ext uri="{FF2B5EF4-FFF2-40B4-BE49-F238E27FC236}">
                <a16:creationId xmlns:a16="http://schemas.microsoft.com/office/drawing/2014/main" id="{C1F9FBAB-0202-4869-890D-2B4335C2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52825"/>
            <a:ext cx="14668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F"/>
            </a:solidFill>
            <a:prstDash val="solid"/>
          </a:ln>
        </p:spPr>
      </p:sp>
      <p:sp>
        <p:nvSpPr>
          <p:cNvPr id="39" name="step-num-bg-4">
            <a:extLst xmlns:a="http://schemas.openxmlformats.org/drawingml/2006/main">
              <a:ext uri="{FF2B5EF4-FFF2-40B4-BE49-F238E27FC236}">
                <a16:creationId xmlns:a16="http://schemas.microsoft.com/office/drawing/2014/main" id="{596E560E-6036-485C-8981-32792052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0C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tep-num-4">
            <a:extLst xmlns:a="http://schemas.openxmlformats.org/drawingml/2006/main">
              <a:ext uri="{FF2B5EF4-FFF2-40B4-BE49-F238E27FC236}">
                <a16:creationId xmlns:a16="http://schemas.microsoft.com/office/drawing/2014/main" id="{6042D7D8-3F4E-4AED-9FAC-0D4640F4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623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D1D2A"/>
                </a:solidFill>
              </a:defRPr>
            </a:pPr>
            <a:r>
              <a:rPr sz="1125" b="1">
                <a:solidFill>
                  <a:srgbClr val="0D1D2A"/>
                </a:solidFill>
              </a:rPr>
              <a:t>5</a:t>
            </a:r>
          </a:p>
        </p:txBody>
      </p:sp>
      <p:sp>
        <p:nvSpPr>
          <p:cNvPr id="41" name="step-head-4">
            <a:extLst xmlns:a="http://schemas.openxmlformats.org/drawingml/2006/main">
              <a:ext uri="{FF2B5EF4-FFF2-40B4-BE49-F238E27FC236}">
                <a16:creationId xmlns:a16="http://schemas.microsoft.com/office/drawing/2014/main" id="{082297A7-2204-4F60-AA0F-42651A56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0052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31E"/>
                </a:solidFill>
              </a:defRPr>
            </a:pPr>
            <a:r>
              <a:rPr sz="1425" b="1">
                <a:solidFill>
                  <a:srgbClr val="07131E"/>
                </a:solidFill>
              </a:rPr>
              <a:t>Judge</a:t>
            </a:r>
          </a:p>
        </p:txBody>
      </p:sp>
      <p:sp>
        <p:nvSpPr>
          <p:cNvPr id="42" name="step-body-4">
            <a:extLst xmlns:a="http://schemas.openxmlformats.org/drawingml/2006/main">
              <a:ext uri="{FF2B5EF4-FFF2-40B4-BE49-F238E27FC236}">
                <a16:creationId xmlns:a16="http://schemas.microsoft.com/office/drawing/2014/main" id="{55517A99-6BC8-4C48-AB58-8D01F38B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9580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581"/>
                </a:solidFill>
              </a:defRPr>
            </a:pPr>
            <a:r>
              <a:rPr sz="1050" b="0">
                <a:solidFill>
                  <a:srgbClr val="647581"/>
                </a:solidFill>
              </a:rPr>
              <a:t>faithfulness first</a:t>
            </a:r>
          </a:p>
        </p:txBody>
      </p:sp>
      <p:sp>
        <p:nvSpPr>
          <p:cNvPr id="43" name="step-5">
            <a:extLst xmlns:a="http://schemas.openxmlformats.org/drawingml/2006/main">
              <a:ext uri="{FF2B5EF4-FFF2-40B4-BE49-F238E27FC236}">
                <a16:creationId xmlns:a16="http://schemas.microsoft.com/office/drawing/2014/main" id="{7BC79DCF-BD4E-4CE8-8E88-727730AD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552825"/>
            <a:ext cx="14668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F"/>
            </a:solidFill>
            <a:prstDash val="solid"/>
          </a:ln>
        </p:spPr>
      </p:sp>
      <p:sp>
        <p:nvSpPr>
          <p:cNvPr id="44" name="step-num-bg-5">
            <a:extLst xmlns:a="http://schemas.openxmlformats.org/drawingml/2006/main">
              <a:ext uri="{FF2B5EF4-FFF2-40B4-BE49-F238E27FC236}">
                <a16:creationId xmlns:a16="http://schemas.microsoft.com/office/drawing/2014/main" id="{EFB2B043-4FF4-41DF-9B0B-51B04C29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147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B6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tep-num-5">
            <a:extLst xmlns:a="http://schemas.openxmlformats.org/drawingml/2006/main">
              <a:ext uri="{FF2B5EF4-FFF2-40B4-BE49-F238E27FC236}">
                <a16:creationId xmlns:a16="http://schemas.microsoft.com/office/drawing/2014/main" id="{BBC8E12C-AC75-4F70-9A68-E5302FC2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623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D1D2A"/>
                </a:solidFill>
              </a:defRPr>
            </a:pPr>
            <a:r>
              <a:rPr sz="1125" b="1">
                <a:solidFill>
                  <a:srgbClr val="0D1D2A"/>
                </a:solidFill>
              </a:rPr>
              <a:t>6</a:t>
            </a:r>
          </a:p>
        </p:txBody>
      </p:sp>
      <p:sp>
        <p:nvSpPr>
          <p:cNvPr id="46" name="step-head-5">
            <a:extLst xmlns:a="http://schemas.openxmlformats.org/drawingml/2006/main">
              <a:ext uri="{FF2B5EF4-FFF2-40B4-BE49-F238E27FC236}">
                <a16:creationId xmlns:a16="http://schemas.microsoft.com/office/drawing/2014/main" id="{41164340-330E-42FB-81BA-2413D032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0052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31E"/>
                </a:solidFill>
              </a:defRPr>
            </a:pPr>
            <a:r>
              <a:rPr sz="1425" b="1">
                <a:solidFill>
                  <a:srgbClr val="07131E"/>
                </a:solidFill>
              </a:rPr>
              <a:t>Deliver</a:t>
            </a:r>
          </a:p>
        </p:txBody>
      </p:sp>
      <p:sp>
        <p:nvSpPr>
          <p:cNvPr id="47" name="step-body-5">
            <a:extLst xmlns:a="http://schemas.openxmlformats.org/drawingml/2006/main">
              <a:ext uri="{FF2B5EF4-FFF2-40B4-BE49-F238E27FC236}">
                <a16:creationId xmlns:a16="http://schemas.microsoft.com/office/drawing/2014/main" id="{08DCF80E-D753-4561-996D-666A71A4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9580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581"/>
                </a:solidFill>
              </a:defRPr>
            </a:pPr>
            <a:r>
              <a:rPr sz="1050" b="0">
                <a:solidFill>
                  <a:srgbClr val="647581"/>
                </a:solidFill>
              </a:rPr>
              <a:t>results.json</a:t>
            </a:r>
          </a:p>
        </p:txBody>
      </p:sp>
      <p:sp>
        <p:nvSpPr>
          <p:cNvPr id="48" name="pipeline-takeaway">
            <a:extLst xmlns:a="http://schemas.openxmlformats.org/drawingml/2006/main">
              <a:ext uri="{FF2B5EF4-FFF2-40B4-BE49-F238E27FC236}">
                <a16:creationId xmlns:a16="http://schemas.microsoft.com/office/drawing/2014/main" id="{84403928-7B74-4663-8646-F3CDA9A6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31E"/>
                </a:solidFill>
              </a:defRPr>
            </a:pPr>
            <a:r>
              <a:rPr sz="1500" b="1">
                <a:solidFill>
                  <a:srgbClr val="07131E"/>
                </a:solidFill>
              </a:rPr>
              <a:t>Only sampled frames leave the container; the full video does not.</a:t>
            </a:r>
          </a:p>
        </p:txBody>
      </p:sp>
      <p:sp>
        <p:nvSpPr>
          <p:cNvPr id="49" name="pipeline-tech">
            <a:extLst xmlns:a="http://schemas.openxmlformats.org/drawingml/2006/main">
              <a:ext uri="{FF2B5EF4-FFF2-40B4-BE49-F238E27FC236}">
                <a16:creationId xmlns:a16="http://schemas.microsoft.com/office/drawing/2014/main" id="{A7DBAA06-96D6-4BA2-9D9A-AB0821E3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581"/>
                </a:solidFill>
              </a:defRPr>
            </a:pPr>
            <a:r>
              <a:rPr sz="1200" b="0">
                <a:solidFill>
                  <a:srgbClr val="647581"/>
                </a:solidFill>
              </a:rPr>
              <a:t>OpenCV → GPT-5.6 Luna → JSON Schema</a:t>
            </a:r>
          </a:p>
        </p:txBody>
      </p:sp>
      <p:sp>
        <p:nvSpPr>
          <p:cNvPr id="50" name="footer-3">
            <a:extLst xmlns:a="http://schemas.openxmlformats.org/drawingml/2006/main">
              <a:ext uri="{FF2B5EF4-FFF2-40B4-BE49-F238E27FC236}">
                <a16:creationId xmlns:a16="http://schemas.microsoft.com/office/drawing/2014/main" id="{D00CCD8F-76DE-43DC-99D3-68D04334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581"/>
                </a:solidFill>
              </a:defRPr>
            </a:pPr>
            <a:r>
              <a:rPr sz="900" b="1">
                <a:solidFill>
                  <a:srgbClr val="647581"/>
                </a:solidFill>
              </a:rPr>
              <a:t>LUNALENS  |  AMD DEVELOPER HACKATHON ACT II</a:t>
            </a:r>
          </a:p>
        </p:txBody>
      </p:sp>
      <p:sp>
        <p:nvSpPr>
          <p:cNvPr id="51" name="page-3">
            <a:extLst xmlns:a="http://schemas.openxmlformats.org/drawingml/2006/main">
              <a:ext uri="{FF2B5EF4-FFF2-40B4-BE49-F238E27FC236}">
                <a16:creationId xmlns:a16="http://schemas.microsoft.com/office/drawing/2014/main" id="{10A9A2D1-0BFC-4472-8963-7A7F4941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581"/>
                </a:solidFill>
              </a:defRPr>
            </a:pPr>
            <a:r>
              <a:rPr sz="900" b="1">
                <a:solidFill>
                  <a:srgbClr val="647581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002847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4">
            <a:extLst xmlns:a="http://schemas.openxmlformats.org/drawingml/2006/main">
              <a:ext uri="{FF2B5EF4-FFF2-40B4-BE49-F238E27FC236}">
                <a16:creationId xmlns:a16="http://schemas.microsoft.com/office/drawing/2014/main" id="{76C80742-EDF4-4A18-9FDE-2AA14E16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C5E8"/>
                </a:solidFill>
              </a:defRPr>
            </a:pPr>
            <a:r>
              <a:rPr sz="1050" b="1">
                <a:solidFill>
                  <a:srgbClr val="20C5E8"/>
                </a:solidFill>
              </a:rPr>
              <a:t>WHY IT HOLDS UP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681C1ACC-B321-4D6E-A7A2-F360EF68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Reliability is designed into every model call</a:t>
            </a:r>
          </a:p>
        </p:txBody>
      </p:sp>
      <p:sp>
        <p:nvSpPr>
          <p:cNvPr id="3" name="reliability-num-0">
            <a:extLst xmlns:a="http://schemas.openxmlformats.org/drawingml/2006/main">
              <a:ext uri="{FF2B5EF4-FFF2-40B4-BE49-F238E27FC236}">
                <a16:creationId xmlns:a16="http://schemas.microsoft.com/office/drawing/2014/main" id="{441E58EC-9542-4B70-B22A-A3EE4AA5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C5E8"/>
                </a:solidFill>
              </a:defRPr>
            </a:pPr>
            <a:r>
              <a:rPr sz="3150" b="1">
                <a:solidFill>
                  <a:srgbClr val="20C5E8"/>
                </a:solidFill>
              </a:rPr>
              <a:t>01</a:t>
            </a:r>
          </a:p>
        </p:txBody>
      </p:sp>
      <p:sp>
        <p:nvSpPr>
          <p:cNvPr id="4" name="reliability-rule-0">
            <a:extLst xmlns:a="http://schemas.openxmlformats.org/drawingml/2006/main">
              <a:ext uri="{FF2B5EF4-FFF2-40B4-BE49-F238E27FC236}">
                <a16:creationId xmlns:a16="http://schemas.microsoft.com/office/drawing/2014/main" id="{949543B4-423A-41B8-8F15-5234BE90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86025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liability-head-0">
            <a:extLst xmlns:a="http://schemas.openxmlformats.org/drawingml/2006/main">
              <a:ext uri="{FF2B5EF4-FFF2-40B4-BE49-F238E27FC236}">
                <a16:creationId xmlns:a16="http://schemas.microsoft.com/office/drawing/2014/main" id="{847AC175-CA51-43E1-B354-574B67C1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Ground first</a:t>
            </a:r>
          </a:p>
        </p:txBody>
      </p:sp>
      <p:sp>
        <p:nvSpPr>
          <p:cNvPr id="6" name="reliability-body-0">
            <a:extLst xmlns:a="http://schemas.openxmlformats.org/drawingml/2006/main">
              <a:ext uri="{FF2B5EF4-FFF2-40B4-BE49-F238E27FC236}">
                <a16:creationId xmlns:a16="http://schemas.microsoft.com/office/drawing/2014/main" id="{3D147708-336D-44F3-92CA-1FD3DE02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71850"/>
            <a:ext cx="31908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3D1D9"/>
                </a:solidFill>
              </a:defRPr>
            </a:pPr>
            <a:r>
              <a:rPr sz="1350" b="0">
                <a:solidFill>
                  <a:srgbClr val="C3D1D9"/>
                </a:solidFill>
              </a:rPr>
              <a:t>The vision pass extracts subjects, actions, setting, mood, and uncertainty before any humor is written.</a:t>
            </a:r>
          </a:p>
        </p:txBody>
      </p:sp>
      <p:sp>
        <p:nvSpPr>
          <p:cNvPr id="7" name="reliability-num-1">
            <a:extLst xmlns:a="http://schemas.openxmlformats.org/drawingml/2006/main">
              <a:ext uri="{FF2B5EF4-FFF2-40B4-BE49-F238E27FC236}">
                <a16:creationId xmlns:a16="http://schemas.microsoft.com/office/drawing/2014/main" id="{BE55A2CB-2EA7-4436-A00A-FB1B852A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B62E"/>
                </a:solidFill>
              </a:defRPr>
            </a:pPr>
            <a:r>
              <a:rPr sz="3150" b="1">
                <a:solidFill>
                  <a:srgbClr val="FFB62E"/>
                </a:solidFill>
              </a:rPr>
              <a:t>02</a:t>
            </a:r>
          </a:p>
        </p:txBody>
      </p:sp>
      <p:sp>
        <p:nvSpPr>
          <p:cNvPr id="8" name="reliability-rule-1">
            <a:extLst xmlns:a="http://schemas.openxmlformats.org/drawingml/2006/main">
              <a:ext uri="{FF2B5EF4-FFF2-40B4-BE49-F238E27FC236}">
                <a16:creationId xmlns:a16="http://schemas.microsoft.com/office/drawing/2014/main" id="{B454930F-A844-4FF1-9E04-A7F9290A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86025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6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liability-head-1">
            <a:extLst xmlns:a="http://schemas.openxmlformats.org/drawingml/2006/main">
              <a:ext uri="{FF2B5EF4-FFF2-40B4-BE49-F238E27FC236}">
                <a16:creationId xmlns:a16="http://schemas.microsoft.com/office/drawing/2014/main" id="{C47F7FD9-5B9A-433A-9922-B73E0B9B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003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Constrain output</a:t>
            </a:r>
          </a:p>
        </p:txBody>
      </p:sp>
      <p:sp>
        <p:nvSpPr>
          <p:cNvPr id="10" name="reliability-body-1">
            <a:extLst xmlns:a="http://schemas.openxmlformats.org/drawingml/2006/main">
              <a:ext uri="{FF2B5EF4-FFF2-40B4-BE49-F238E27FC236}">
                <a16:creationId xmlns:a16="http://schemas.microsoft.com/office/drawing/2014/main" id="{E0C45D63-AF97-4779-A0D6-4AE5CCDE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71850"/>
            <a:ext cx="31908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3D1D9"/>
                </a:solidFill>
              </a:defRPr>
            </a:pPr>
            <a:r>
              <a:rPr sz="1350" b="0">
                <a:solidFill>
                  <a:srgbClr val="C3D1D9"/>
                </a:solidFill>
              </a:rPr>
              <a:t>Strict JSON schemas require every style key, while local validation enforces one sentence and 8–22 words.</a:t>
            </a:r>
          </a:p>
        </p:txBody>
      </p:sp>
      <p:sp>
        <p:nvSpPr>
          <p:cNvPr id="11" name="reliability-num-2">
            <a:extLst xmlns:a="http://schemas.openxmlformats.org/drawingml/2006/main">
              <a:ext uri="{FF2B5EF4-FFF2-40B4-BE49-F238E27FC236}">
                <a16:creationId xmlns:a16="http://schemas.microsoft.com/office/drawing/2014/main" id="{1CE7BEFC-FC80-4A35-9DDB-4DD37EC2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907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745D"/>
                </a:solidFill>
              </a:defRPr>
            </a:pPr>
            <a:r>
              <a:rPr sz="3150" b="1">
                <a:solidFill>
                  <a:srgbClr val="FF745D"/>
                </a:solidFill>
              </a:rPr>
              <a:t>03</a:t>
            </a:r>
          </a:p>
        </p:txBody>
      </p:sp>
      <p:sp>
        <p:nvSpPr>
          <p:cNvPr id="12" name="reliability-rule-2">
            <a:extLst xmlns:a="http://schemas.openxmlformats.org/drawingml/2006/main">
              <a:ext uri="{FF2B5EF4-FFF2-40B4-BE49-F238E27FC236}">
                <a16:creationId xmlns:a16="http://schemas.microsoft.com/office/drawing/2014/main" id="{16272171-0104-495C-90C5-11D2EB24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86025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4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liability-head-2">
            <a:extLst xmlns:a="http://schemas.openxmlformats.org/drawingml/2006/main">
              <a:ext uri="{FF2B5EF4-FFF2-40B4-BE49-F238E27FC236}">
                <a16:creationId xmlns:a16="http://schemas.microsoft.com/office/drawing/2014/main" id="{E4C98A43-6FC0-424C-B332-BEC0992D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03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Fail gracefully</a:t>
            </a:r>
          </a:p>
        </p:txBody>
      </p:sp>
      <p:sp>
        <p:nvSpPr>
          <p:cNvPr id="14" name="reliability-body-2">
            <a:extLst xmlns:a="http://schemas.openxmlformats.org/drawingml/2006/main">
              <a:ext uri="{FF2B5EF4-FFF2-40B4-BE49-F238E27FC236}">
                <a16:creationId xmlns:a16="http://schemas.microsoft.com/office/drawing/2014/main" id="{CAD69B8D-1BE1-4384-A3F1-4D2ABB03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71850"/>
            <a:ext cx="31908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3D1D9"/>
                </a:solidFill>
              </a:defRPr>
            </a:pPr>
            <a:r>
              <a:rPr sz="1350" b="0">
                <a:solidFill>
                  <a:srgbClr val="C3D1D9"/>
                </a:solidFill>
              </a:rPr>
              <a:t>Model-access fallback, safe captions, atomic file writes, and exit code 0 protect the evaluation contract.</a:t>
            </a:r>
          </a:p>
        </p:txBody>
      </p:sp>
      <p:sp>
        <p:nvSpPr>
          <p:cNvPr id="15" name="reliability-takeaway">
            <a:extLst xmlns:a="http://schemas.openxmlformats.org/drawingml/2006/main">
              <a:ext uri="{FF2B5EF4-FFF2-40B4-BE49-F238E27FC236}">
                <a16:creationId xmlns:a16="http://schemas.microsoft.com/office/drawing/2014/main" id="{50E352E0-927C-41E7-B4A1-4F093542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86375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Faithfulness outranks humor at the final self-check.</a:t>
            </a:r>
          </a:p>
        </p:txBody>
      </p:sp>
      <p:sp>
        <p:nvSpPr>
          <p:cNvPr id="16" name="footer-4">
            <a:extLst xmlns:a="http://schemas.openxmlformats.org/drawingml/2006/main">
              <a:ext uri="{FF2B5EF4-FFF2-40B4-BE49-F238E27FC236}">
                <a16:creationId xmlns:a16="http://schemas.microsoft.com/office/drawing/2014/main" id="{1EC0A4C7-15B1-42ED-BDF7-8F9A2D32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C7D1"/>
                </a:solidFill>
              </a:defRPr>
            </a:pPr>
            <a:r>
              <a:rPr sz="900" b="1">
                <a:solidFill>
                  <a:srgbClr val="B7C7D1"/>
                </a:solidFill>
              </a:rPr>
              <a:t>LUNALENS  |  AMD DEVELOPER HACKATHON ACT II</a:t>
            </a:r>
          </a:p>
        </p:txBody>
      </p:sp>
      <p:sp>
        <p:nvSpPr>
          <p:cNvPr id="17" name="page-4">
            <a:extLst xmlns:a="http://schemas.openxmlformats.org/drawingml/2006/main">
              <a:ext uri="{FF2B5EF4-FFF2-40B4-BE49-F238E27FC236}">
                <a16:creationId xmlns:a16="http://schemas.microsoft.com/office/drawing/2014/main" id="{4BBAE74B-E027-488F-9300-1E5201E8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7C7D1"/>
                </a:solidFill>
              </a:defRPr>
            </a:pPr>
            <a:r>
              <a:rPr sz="900" b="1">
                <a:solidFill>
                  <a:srgbClr val="B7C7D1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422757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5">
            <a:extLst xmlns:a="http://schemas.openxmlformats.org/drawingml/2006/main">
              <a:ext uri="{FF2B5EF4-FFF2-40B4-BE49-F238E27FC236}">
                <a16:creationId xmlns:a16="http://schemas.microsoft.com/office/drawing/2014/main" id="{9CB5BA50-C772-4EC2-BF9E-6AE4DD1A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581"/>
                </a:solidFill>
              </a:defRPr>
            </a:pPr>
            <a:r>
              <a:rPr sz="1050" b="1">
                <a:solidFill>
                  <a:srgbClr val="647581"/>
                </a:solidFill>
              </a:rPr>
              <a:t>MEASURED RUN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2F1B4F7E-3CB2-481F-B169-EC1B9185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31E"/>
                </a:solidFill>
              </a:defRPr>
            </a:pPr>
            <a:r>
              <a:rPr sz="2850" b="1">
                <a:solidFill>
                  <a:srgbClr val="07131E"/>
                </a:solidFill>
              </a:rPr>
              <a:t>High reasoning still finishes comfortably inside the limit</a:t>
            </a:r>
          </a:p>
        </p:txBody>
      </p:sp>
      <p:sp>
        <p:nvSpPr>
          <p:cNvPr id="3" name="metric-rule-0">
            <a:extLst xmlns:a="http://schemas.openxmlformats.org/drawingml/2006/main">
              <a:ext uri="{FF2B5EF4-FFF2-40B4-BE49-F238E27FC236}">
                <a16:creationId xmlns:a16="http://schemas.microsoft.com/office/drawing/2014/main" id="{D13EAB14-3DF8-4B0D-BCF5-582F6C33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24025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etric-stat-0">
            <a:extLst xmlns:a="http://schemas.openxmlformats.org/drawingml/2006/main">
              <a:ext uri="{FF2B5EF4-FFF2-40B4-BE49-F238E27FC236}">
                <a16:creationId xmlns:a16="http://schemas.microsoft.com/office/drawing/2014/main" id="{8010E8DF-2698-40A1-A1A4-57D0EE58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323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7131E"/>
                </a:solidFill>
              </a:defRPr>
            </a:pPr>
            <a:r>
              <a:rPr sz="4350" b="1">
                <a:solidFill>
                  <a:srgbClr val="07131E"/>
                </a:solidFill>
              </a:rPr>
              <a:t>8</a:t>
            </a:r>
          </a:p>
        </p:txBody>
      </p:sp>
      <p:sp>
        <p:nvSpPr>
          <p:cNvPr id="5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1A200D76-7890-468B-B0BA-4A6E2335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66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31E"/>
                </a:solidFill>
              </a:defRPr>
            </a:pPr>
            <a:r>
              <a:rPr sz="1650" b="1">
                <a:solidFill>
                  <a:srgbClr val="07131E"/>
                </a:solidFill>
              </a:rPr>
              <a:t>frames sampled</a:t>
            </a:r>
          </a:p>
        </p:txBody>
      </p:sp>
      <p:sp>
        <p:nvSpPr>
          <p:cNvPr id="6" name="metric-note-0">
            <a:extLst xmlns:a="http://schemas.openxmlformats.org/drawingml/2006/main">
              <a:ext uri="{FF2B5EF4-FFF2-40B4-BE49-F238E27FC236}">
                <a16:creationId xmlns:a16="http://schemas.microsoft.com/office/drawing/2014/main" id="{1B2ABEE5-8782-4076-896C-BFEEFCD7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332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581"/>
                </a:solidFill>
              </a:defRPr>
            </a:pPr>
            <a:r>
              <a:rPr sz="1200" b="0">
                <a:solidFill>
                  <a:srgbClr val="647581"/>
                </a:solidFill>
              </a:rPr>
              <a:t>Evenly distributed across the clip</a:t>
            </a:r>
          </a:p>
        </p:txBody>
      </p:sp>
      <p:sp>
        <p:nvSpPr>
          <p:cNvPr id="7" name="metric-rule-1">
            <a:extLst xmlns:a="http://schemas.openxmlformats.org/drawingml/2006/main">
              <a:ext uri="{FF2B5EF4-FFF2-40B4-BE49-F238E27FC236}">
                <a16:creationId xmlns:a16="http://schemas.microsoft.com/office/drawing/2014/main" id="{CA8A454C-1248-4BCB-B4DA-97F0C07B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24025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6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stat-1">
            <a:extLst xmlns:a="http://schemas.openxmlformats.org/drawingml/2006/main">
              <a:ext uri="{FF2B5EF4-FFF2-40B4-BE49-F238E27FC236}">
                <a16:creationId xmlns:a16="http://schemas.microsoft.com/office/drawing/2014/main" id="{9509BC65-50FF-42DC-BE00-E113A73C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33600"/>
            <a:ext cx="323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7131E"/>
                </a:solidFill>
              </a:defRPr>
            </a:pPr>
            <a:r>
              <a:rPr sz="4350" b="1">
                <a:solidFill>
                  <a:srgbClr val="07131E"/>
                </a:solidFill>
              </a:rPr>
              <a:t>59.5s</a:t>
            </a:r>
          </a:p>
        </p:txBody>
      </p:sp>
      <p:sp>
        <p:nvSpPr>
          <p:cNvPr id="9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14C8DB80-786F-4EC7-9BA7-D10778D6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766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31E"/>
                </a:solidFill>
              </a:defRPr>
            </a:pPr>
            <a:r>
              <a:rPr sz="1650" b="1">
                <a:solidFill>
                  <a:srgbClr val="07131E"/>
                </a:solidFill>
              </a:rPr>
              <a:t>end-to-end</a:t>
            </a:r>
          </a:p>
        </p:txBody>
      </p:sp>
      <p:sp>
        <p:nvSpPr>
          <p:cNvPr id="10" name="metric-note-1">
            <a:extLst xmlns:a="http://schemas.openxmlformats.org/drawingml/2006/main">
              <a:ext uri="{FF2B5EF4-FFF2-40B4-BE49-F238E27FC236}">
                <a16:creationId xmlns:a16="http://schemas.microsoft.com/office/drawing/2014/main" id="{C0ED6F00-7872-4363-BFE6-7187864A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4332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581"/>
                </a:solidFill>
              </a:defRPr>
            </a:pPr>
            <a:r>
              <a:rPr sz="1200" b="0">
                <a:solidFill>
                  <a:srgbClr val="647581"/>
                </a:solidFill>
              </a:rPr>
              <a:t>Latest successful local evaluation</a:t>
            </a:r>
          </a:p>
        </p:txBody>
      </p:sp>
      <p:sp>
        <p:nvSpPr>
          <p:cNvPr id="11" name="metric-rule-2">
            <a:extLst xmlns:a="http://schemas.openxmlformats.org/drawingml/2006/main">
              <a:ext uri="{FF2B5EF4-FFF2-40B4-BE49-F238E27FC236}">
                <a16:creationId xmlns:a16="http://schemas.microsoft.com/office/drawing/2014/main" id="{AC144B6A-F650-4305-BC0E-3D58131C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24025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4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ric-stat-2">
            <a:extLst xmlns:a="http://schemas.openxmlformats.org/drawingml/2006/main">
              <a:ext uri="{FF2B5EF4-FFF2-40B4-BE49-F238E27FC236}">
                <a16:creationId xmlns:a16="http://schemas.microsoft.com/office/drawing/2014/main" id="{46C6CD84-6FE2-4189-9E11-C6401B3F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23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7131E"/>
                </a:solidFill>
              </a:defRPr>
            </a:pPr>
            <a:r>
              <a:rPr sz="4350" b="1">
                <a:solidFill>
                  <a:srgbClr val="07131E"/>
                </a:solidFill>
              </a:rPr>
              <a:t>4/4</a:t>
            </a:r>
          </a:p>
        </p:txBody>
      </p:sp>
      <p:sp>
        <p:nvSpPr>
          <p:cNvPr id="13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02200E91-02BB-4876-BE36-C4C27EF3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766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31E"/>
                </a:solidFill>
              </a:defRPr>
            </a:pPr>
            <a:r>
              <a:rPr sz="1650" b="1">
                <a:solidFill>
                  <a:srgbClr val="07131E"/>
                </a:solidFill>
              </a:rPr>
              <a:t>styles returned</a:t>
            </a:r>
          </a:p>
        </p:txBody>
      </p:sp>
      <p:sp>
        <p:nvSpPr>
          <p:cNvPr id="14" name="metric-note-2">
            <a:extLst xmlns:a="http://schemas.openxmlformats.org/drawingml/2006/main">
              <a:ext uri="{FF2B5EF4-FFF2-40B4-BE49-F238E27FC236}">
                <a16:creationId xmlns:a16="http://schemas.microsoft.com/office/drawing/2014/main" id="{5506F075-361A-4CBB-B4D5-ECCF0F9A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4332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581"/>
                </a:solidFill>
              </a:defRPr>
            </a:pPr>
            <a:r>
              <a:rPr sz="1200" b="0">
                <a:solidFill>
                  <a:srgbClr val="647581"/>
                </a:solidFill>
              </a:rPr>
              <a:t>No requested caption style missing</a:t>
            </a:r>
          </a:p>
        </p:txBody>
      </p:sp>
      <p:sp>
        <p:nvSpPr>
          <p:cNvPr id="15" name="metrics-separator">
            <a:extLst xmlns:a="http://schemas.openxmlformats.org/drawingml/2006/main">
              <a:ext uri="{FF2B5EF4-FFF2-40B4-BE49-F238E27FC236}">
                <a16:creationId xmlns:a16="http://schemas.microsoft.com/office/drawing/2014/main" id="{8505756F-0D18-41A8-A374-BF1ABD50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0125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st-label">
            <a:extLst xmlns:a="http://schemas.openxmlformats.org/drawingml/2006/main">
              <a:ext uri="{FF2B5EF4-FFF2-40B4-BE49-F238E27FC236}">
                <a16:creationId xmlns:a16="http://schemas.microsoft.com/office/drawing/2014/main" id="{690881E6-46D6-4731-848F-3AF10699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530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31E"/>
                </a:solidFill>
              </a:defRPr>
            </a:pPr>
            <a:r>
              <a:rPr sz="1350" b="1">
                <a:solidFill>
                  <a:srgbClr val="07131E"/>
                </a:solidFill>
              </a:rPr>
              <a:t>Cost controls</a:t>
            </a:r>
          </a:p>
        </p:txBody>
      </p:sp>
      <p:sp>
        <p:nvSpPr>
          <p:cNvPr id="17" name="cost-controls">
            <a:extLst xmlns:a="http://schemas.openxmlformats.org/drawingml/2006/main">
              <a:ext uri="{FF2B5EF4-FFF2-40B4-BE49-F238E27FC236}">
                <a16:creationId xmlns:a16="http://schemas.microsoft.com/office/drawing/2014/main" id="{D5EE4162-5D15-47FF-ACC2-F26BA632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1492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581"/>
                </a:solidFill>
              </a:defRPr>
            </a:pPr>
            <a:r>
              <a:rPr sz="1350" b="0">
                <a:solidFill>
                  <a:srgbClr val="647581"/>
                </a:solidFill>
              </a:rPr>
              <a:t>512px frames  •  JPEG compression  •  bounded candidates  •  output budgets tuned for high reasoning</a:t>
            </a:r>
          </a:p>
        </p:txBody>
      </p:sp>
      <p:sp>
        <p:nvSpPr>
          <p:cNvPr id="18" name="metric-caveat">
            <a:extLst xmlns:a="http://schemas.openxmlformats.org/drawingml/2006/main">
              <a:ext uri="{FF2B5EF4-FFF2-40B4-BE49-F238E27FC236}">
                <a16:creationId xmlns:a16="http://schemas.microsoft.com/office/drawing/2014/main" id="{8E54FC10-C36C-41E6-ADC4-170C08A6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581"/>
                </a:solidFill>
              </a:defRPr>
            </a:pPr>
            <a:r>
              <a:rPr sz="1050" b="0">
                <a:solidFill>
                  <a:srgbClr val="647581"/>
                </a:solidFill>
              </a:rPr>
              <a:t>Measured on one representative sample clip; runtime varies with network and API load.</a:t>
            </a:r>
          </a:p>
        </p:txBody>
      </p:sp>
      <p:sp>
        <p:nvSpPr>
          <p:cNvPr id="19" name="footer-5">
            <a:extLst xmlns:a="http://schemas.openxmlformats.org/drawingml/2006/main">
              <a:ext uri="{FF2B5EF4-FFF2-40B4-BE49-F238E27FC236}">
                <a16:creationId xmlns:a16="http://schemas.microsoft.com/office/drawing/2014/main" id="{F8A7F973-4412-4143-8748-C0932ACE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581"/>
                </a:solidFill>
              </a:defRPr>
            </a:pPr>
            <a:r>
              <a:rPr sz="900" b="1">
                <a:solidFill>
                  <a:srgbClr val="647581"/>
                </a:solidFill>
              </a:rPr>
              <a:t>LUNALENS  |  AMD DEVELOPER HACKATHON ACT II</a:t>
            </a:r>
          </a:p>
        </p:txBody>
      </p:sp>
      <p:sp>
        <p:nvSpPr>
          <p:cNvPr id="20" name="page-5">
            <a:extLst xmlns:a="http://schemas.openxmlformats.org/drawingml/2006/main">
              <a:ext uri="{FF2B5EF4-FFF2-40B4-BE49-F238E27FC236}">
                <a16:creationId xmlns:a16="http://schemas.microsoft.com/office/drawing/2014/main" id="{1223232E-176E-4B95-9027-92D4F569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581"/>
                </a:solidFill>
              </a:defRPr>
            </a:pPr>
            <a:r>
              <a:rPr sz="900" b="1">
                <a:solidFill>
                  <a:srgbClr val="647581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809077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6">
            <a:extLst xmlns:a="http://schemas.openxmlformats.org/drawingml/2006/main">
              <a:ext uri="{FF2B5EF4-FFF2-40B4-BE49-F238E27FC236}">
                <a16:creationId xmlns:a16="http://schemas.microsoft.com/office/drawing/2014/main" id="{137DB6DD-EEA0-4D8A-8D46-065DD162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581"/>
                </a:solidFill>
              </a:defRPr>
            </a:pPr>
            <a:r>
              <a:rPr sz="1050" b="1">
                <a:solidFill>
                  <a:srgbClr val="647581"/>
                </a:solidFill>
              </a:rPr>
              <a:t>EXAMPLE OUTPUT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336BC1DE-B035-40C0-90EA-8BB4728C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31E"/>
                </a:solidFill>
              </a:defRPr>
            </a:pPr>
            <a:r>
              <a:rPr sz="2850" b="1">
                <a:solidFill>
                  <a:srgbClr val="07131E"/>
                </a:solidFill>
              </a:rPr>
              <a:t>One scene, four voices, all grounded</a:t>
            </a:r>
          </a:p>
        </p:txBody>
      </p:sp>
      <p:sp>
        <p:nvSpPr>
          <p:cNvPr id="3" name="caption-accent-0">
            <a:extLst xmlns:a="http://schemas.openxmlformats.org/drawingml/2006/main">
              <a:ext uri="{FF2B5EF4-FFF2-40B4-BE49-F238E27FC236}">
                <a16:creationId xmlns:a16="http://schemas.microsoft.com/office/drawing/2014/main" id="{2534CD9C-93D1-45A5-B30E-2AD48D81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90675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aption-label-0">
            <a:extLst xmlns:a="http://schemas.openxmlformats.org/drawingml/2006/main">
              <a:ext uri="{FF2B5EF4-FFF2-40B4-BE49-F238E27FC236}">
                <a16:creationId xmlns:a16="http://schemas.microsoft.com/office/drawing/2014/main" id="{39BC2589-CCD2-4337-BD7A-8D26A0FF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97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C5E8"/>
                </a:solidFill>
              </a:defRPr>
            </a:pPr>
            <a:r>
              <a:rPr sz="1050" b="1">
                <a:solidFill>
                  <a:srgbClr val="20C5E8"/>
                </a:solidFill>
              </a:rPr>
              <a:t>FORMAL</a:t>
            </a:r>
          </a:p>
        </p:txBody>
      </p:sp>
      <p:sp>
        <p:nvSpPr>
          <p:cNvPr id="5" name="caption-copy-0">
            <a:extLst xmlns:a="http://schemas.openxmlformats.org/drawingml/2006/main">
              <a:ext uri="{FF2B5EF4-FFF2-40B4-BE49-F238E27FC236}">
                <a16:creationId xmlns:a16="http://schemas.microsoft.com/office/drawing/2014/main" id="{54077997-173A-41E7-9DCC-8BF8A28C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8115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31E"/>
                </a:solidFill>
              </a:defRPr>
            </a:pPr>
            <a:r>
              <a:rPr sz="1500" b="0">
                <a:solidFill>
                  <a:srgbClr val="07131E"/>
                </a:solidFill>
              </a:rPr>
              <a:t>Vehicles travel through multiple marked lanes on a busy boulevard lined with yellow autumn trees, apartment towers, and distant hills.</a:t>
            </a:r>
          </a:p>
        </p:txBody>
      </p:sp>
      <p:sp>
        <p:nvSpPr>
          <p:cNvPr id="6" name="caption-accent-1">
            <a:extLst xmlns:a="http://schemas.openxmlformats.org/drawingml/2006/main">
              <a:ext uri="{FF2B5EF4-FFF2-40B4-BE49-F238E27FC236}">
                <a16:creationId xmlns:a16="http://schemas.microsoft.com/office/drawing/2014/main" id="{0F76C796-BE49-4C1D-9433-45BEC9E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57475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6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ption-label-1">
            <a:extLst xmlns:a="http://schemas.openxmlformats.org/drawingml/2006/main">
              <a:ext uri="{FF2B5EF4-FFF2-40B4-BE49-F238E27FC236}">
                <a16:creationId xmlns:a16="http://schemas.microsoft.com/office/drawing/2014/main" id="{634BBEE2-CE38-4AAF-B556-E72C7313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765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62E"/>
                </a:solidFill>
              </a:defRPr>
            </a:pPr>
            <a:r>
              <a:rPr sz="1050" b="1">
                <a:solidFill>
                  <a:srgbClr val="FFB62E"/>
                </a:solidFill>
              </a:rPr>
              <a:t>SARCASTIC</a:t>
            </a:r>
          </a:p>
        </p:txBody>
      </p:sp>
      <p:sp>
        <p:nvSpPr>
          <p:cNvPr id="8" name="caption-copy-1">
            <a:extLst xmlns:a="http://schemas.openxmlformats.org/drawingml/2006/main">
              <a:ext uri="{FF2B5EF4-FFF2-40B4-BE49-F238E27FC236}">
                <a16:creationId xmlns:a16="http://schemas.microsoft.com/office/drawing/2014/main" id="{051374CA-5BE1-4C04-94D2-02EF955D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4795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31E"/>
                </a:solidFill>
              </a:defRPr>
            </a:pPr>
            <a:r>
              <a:rPr sz="1500" b="0">
                <a:solidFill>
                  <a:srgbClr val="07131E"/>
                </a:solidFill>
              </a:rPr>
              <a:t>Apparently, even a bright autumn boulevard needs multiple lanes, white arrows, and yellow lines to keep traffic moving.</a:t>
            </a:r>
          </a:p>
        </p:txBody>
      </p:sp>
      <p:sp>
        <p:nvSpPr>
          <p:cNvPr id="9" name="caption-accent-2">
            <a:extLst xmlns:a="http://schemas.openxmlformats.org/drawingml/2006/main">
              <a:ext uri="{FF2B5EF4-FFF2-40B4-BE49-F238E27FC236}">
                <a16:creationId xmlns:a16="http://schemas.microsoft.com/office/drawing/2014/main" id="{969FA035-B244-40EF-972B-ED45FE10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24275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4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ption-label-2">
            <a:extLst xmlns:a="http://schemas.openxmlformats.org/drawingml/2006/main">
              <a:ext uri="{FF2B5EF4-FFF2-40B4-BE49-F238E27FC236}">
                <a16:creationId xmlns:a16="http://schemas.microsoft.com/office/drawing/2014/main" id="{7F3EBFF0-E492-40F8-A765-9201F863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43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45D"/>
                </a:solidFill>
              </a:defRPr>
            </a:pPr>
            <a:r>
              <a:rPr sz="1050" b="1">
                <a:solidFill>
                  <a:srgbClr val="FF745D"/>
                </a:solidFill>
              </a:rPr>
              <a:t>HUMOROUS TECH</a:t>
            </a:r>
          </a:p>
        </p:txBody>
      </p:sp>
      <p:sp>
        <p:nvSpPr>
          <p:cNvPr id="11" name="caption-copy-2">
            <a:extLst xmlns:a="http://schemas.openxmlformats.org/drawingml/2006/main">
              <a:ext uri="{FF2B5EF4-FFF2-40B4-BE49-F238E27FC236}">
                <a16:creationId xmlns:a16="http://schemas.microsoft.com/office/drawing/2014/main" id="{ECE3717D-9BA2-4086-AF45-C8A9354F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31E"/>
                </a:solidFill>
              </a:defRPr>
            </a:pPr>
            <a:r>
              <a:rPr sz="1500" b="0">
                <a:solidFill>
                  <a:srgbClr val="07131E"/>
                </a:solidFill>
              </a:rPr>
              <a:t>Traffic appears to be running a crowded program across multiple lanes, with buses, arrows, and yellow lines in the interface.</a:t>
            </a:r>
          </a:p>
        </p:txBody>
      </p:sp>
      <p:sp>
        <p:nvSpPr>
          <p:cNvPr id="12" name="caption-accent-3">
            <a:extLst xmlns:a="http://schemas.openxmlformats.org/drawingml/2006/main">
              <a:ext uri="{FF2B5EF4-FFF2-40B4-BE49-F238E27FC236}">
                <a16:creationId xmlns:a16="http://schemas.microsoft.com/office/drawing/2014/main" id="{9F2061BD-44EA-4E7B-984C-DB3734F3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91075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C8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ption-label-3">
            <a:extLst xmlns:a="http://schemas.openxmlformats.org/drawingml/2006/main">
              <a:ext uri="{FF2B5EF4-FFF2-40B4-BE49-F238E27FC236}">
                <a16:creationId xmlns:a16="http://schemas.microsoft.com/office/drawing/2014/main" id="{8B13515C-516F-4B35-A16B-15793498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C89A"/>
                </a:solidFill>
              </a:defRPr>
            </a:pPr>
            <a:r>
              <a:rPr sz="1050" b="1">
                <a:solidFill>
                  <a:srgbClr val="43C89A"/>
                </a:solidFill>
              </a:rPr>
              <a:t>HUMOROUS NON-TECH</a:t>
            </a:r>
          </a:p>
        </p:txBody>
      </p:sp>
      <p:sp>
        <p:nvSpPr>
          <p:cNvPr id="14" name="caption-copy-3">
            <a:extLst xmlns:a="http://schemas.openxmlformats.org/drawingml/2006/main">
              <a:ext uri="{FF2B5EF4-FFF2-40B4-BE49-F238E27FC236}">
                <a16:creationId xmlns:a16="http://schemas.microsoft.com/office/drawing/2014/main" id="{AE499013-B783-47BE-9692-179D21BD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8155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31E"/>
                </a:solidFill>
              </a:defRPr>
            </a:pPr>
            <a:r>
              <a:rPr sz="1500" b="0">
                <a:solidFill>
                  <a:srgbClr val="07131E"/>
                </a:solidFill>
              </a:rPr>
              <a:t>Cars and buses share the boulevard, apparently agreeing that several lanes are better than taking turns.</a:t>
            </a:r>
          </a:p>
        </p:txBody>
      </p:sp>
      <p:sp>
        <p:nvSpPr>
          <p:cNvPr id="15" name="result-validator">
            <a:extLst xmlns:a="http://schemas.openxmlformats.org/drawingml/2006/main">
              <a:ext uri="{FF2B5EF4-FFF2-40B4-BE49-F238E27FC236}">
                <a16:creationId xmlns:a16="http://schemas.microsoft.com/office/drawing/2014/main" id="{68A17DFE-5F2B-4917-B9E5-4BF65DCD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24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581"/>
                </a:solidFill>
              </a:defRPr>
            </a:pPr>
            <a:r>
              <a:rPr sz="1200" b="1">
                <a:solidFill>
                  <a:srgbClr val="647581"/>
                </a:solidFill>
              </a:rPr>
              <a:t>Validated English • one sentence • 8–22 words</a:t>
            </a:r>
          </a:p>
        </p:txBody>
      </p:sp>
      <p:sp>
        <p:nvSpPr>
          <p:cNvPr id="16" name="footer-6">
            <a:extLst xmlns:a="http://schemas.openxmlformats.org/drawingml/2006/main">
              <a:ext uri="{FF2B5EF4-FFF2-40B4-BE49-F238E27FC236}">
                <a16:creationId xmlns:a16="http://schemas.microsoft.com/office/drawing/2014/main" id="{6902CD34-EFE2-47FD-B0D3-4D891A9C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581"/>
                </a:solidFill>
              </a:defRPr>
            </a:pPr>
            <a:r>
              <a:rPr sz="900" b="1">
                <a:solidFill>
                  <a:srgbClr val="647581"/>
                </a:solidFill>
              </a:rPr>
              <a:t>LUNALENS  |  AMD DEVELOPER HACKATHON ACT II</a:t>
            </a:r>
          </a:p>
        </p:txBody>
      </p:sp>
      <p:sp>
        <p:nvSpPr>
          <p:cNvPr id="17" name="page-6">
            <a:extLst xmlns:a="http://schemas.openxmlformats.org/drawingml/2006/main">
              <a:ext uri="{FF2B5EF4-FFF2-40B4-BE49-F238E27FC236}">
                <a16:creationId xmlns:a16="http://schemas.microsoft.com/office/drawing/2014/main" id="{7B3036F7-94EB-4D67-80F7-5F0081B7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581"/>
                </a:solidFill>
              </a:defRPr>
            </a:pPr>
            <a:r>
              <a:rPr sz="900" b="1">
                <a:solidFill>
                  <a:srgbClr val="647581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243116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24c49418d487c"/>
          <a:srcRect xmlns:a="http://schemas.openxmlformats.org/drawingml/2006/main" l="30859" t="0" r="308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0"/>
            <a:ext cx="4667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losing-fade">
            <a:extLst xmlns:a="http://schemas.openxmlformats.org/drawingml/2006/main">
              <a:ext uri="{FF2B5EF4-FFF2-40B4-BE49-F238E27FC236}">
                <a16:creationId xmlns:a16="http://schemas.microsoft.com/office/drawing/2014/main" id="{48D353E5-6124-4753-9A34-D22A35D9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209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D2A">
              <a:alpha val="9098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C751CABF-971B-4F4D-B876-A4103AED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C5E8"/>
                </a:solidFill>
              </a:defRPr>
            </a:pPr>
            <a:r>
              <a:rPr sz="1050" b="1">
                <a:solidFill>
                  <a:srgbClr val="20C5E8"/>
                </a:solidFill>
              </a:rPr>
              <a:t>READY FOR EVALUATION</a:t>
            </a:r>
          </a:p>
        </p:txBody>
      </p:sp>
      <p:sp>
        <p:nvSpPr>
          <p:cNvPr id="4" name="close-title">
            <a:extLst xmlns:a="http://schemas.openxmlformats.org/drawingml/2006/main">
              <a:ext uri="{FF2B5EF4-FFF2-40B4-BE49-F238E27FC236}">
                <a16:creationId xmlns:a16="http://schemas.microsoft.com/office/drawing/2014/main" id="{F738C9A9-EADC-45EB-9907-34ACBC81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6381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Grounded captions.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Four distinct voices.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One reliable container.</a:t>
            </a:r>
          </a:p>
        </p:txBody>
      </p:sp>
      <p:sp>
        <p:nvSpPr>
          <p:cNvPr id="5" name="close-check-0">
            <a:extLst xmlns:a="http://schemas.openxmlformats.org/drawingml/2006/main">
              <a:ext uri="{FF2B5EF4-FFF2-40B4-BE49-F238E27FC236}">
                <a16:creationId xmlns:a16="http://schemas.microsoft.com/office/drawing/2014/main" id="{87255D35-656E-4419-B207-9FD03502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8620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0C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ose-item-0">
            <a:extLst xmlns:a="http://schemas.openxmlformats.org/drawingml/2006/main">
              <a:ext uri="{FF2B5EF4-FFF2-40B4-BE49-F238E27FC236}">
                <a16:creationId xmlns:a16="http://schemas.microsoft.com/office/drawing/2014/main" id="{229D3436-A470-4737-9168-9CCEF3CD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E0E6"/>
                </a:solidFill>
              </a:defRPr>
            </a:pPr>
            <a:r>
              <a:rPr sz="1350" b="0">
                <a:solidFill>
                  <a:srgbClr val="D4E0E6"/>
                </a:solidFill>
              </a:rPr>
              <a:t>linux/amd64 Docker image</a:t>
            </a:r>
          </a:p>
        </p:txBody>
      </p:sp>
      <p:sp>
        <p:nvSpPr>
          <p:cNvPr id="7" name="close-check-1">
            <a:extLst xmlns:a="http://schemas.openxmlformats.org/drawingml/2006/main">
              <a:ext uri="{FF2B5EF4-FFF2-40B4-BE49-F238E27FC236}">
                <a16:creationId xmlns:a16="http://schemas.microsoft.com/office/drawing/2014/main" id="{0088B3FC-7B13-4795-A260-9C9CDF05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B6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lose-item-1">
            <a:extLst xmlns:a="http://schemas.openxmlformats.org/drawingml/2006/main">
              <a:ext uri="{FF2B5EF4-FFF2-40B4-BE49-F238E27FC236}">
                <a16:creationId xmlns:a16="http://schemas.microsoft.com/office/drawing/2014/main" id="{668A9F64-30CE-465D-A0D0-1C17ADA1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E0E6"/>
                </a:solidFill>
              </a:defRPr>
            </a:pPr>
            <a:r>
              <a:rPr sz="1350" b="0">
                <a:solidFill>
                  <a:srgbClr val="D4E0E6"/>
                </a:solidFill>
              </a:rPr>
              <a:t>/input/tasks.json → /output/results.json</a:t>
            </a:r>
          </a:p>
        </p:txBody>
      </p:sp>
      <p:sp>
        <p:nvSpPr>
          <p:cNvPr id="9" name="close-check-2">
            <a:extLst xmlns:a="http://schemas.openxmlformats.org/drawingml/2006/main">
              <a:ext uri="{FF2B5EF4-FFF2-40B4-BE49-F238E27FC236}">
                <a16:creationId xmlns:a16="http://schemas.microsoft.com/office/drawing/2014/main" id="{08958F91-AF44-4646-81CB-B17E4C42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0060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0C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lose-item-2">
            <a:extLst xmlns:a="http://schemas.openxmlformats.org/drawingml/2006/main">
              <a:ext uri="{FF2B5EF4-FFF2-40B4-BE49-F238E27FC236}">
                <a16:creationId xmlns:a16="http://schemas.microsoft.com/office/drawing/2014/main" id="{541FED2A-D630-41F1-BAA9-8B9834EA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E0E6"/>
                </a:solidFill>
              </a:defRPr>
            </a:pPr>
            <a:r>
              <a:rPr sz="1350" b="0">
                <a:solidFill>
                  <a:srgbClr val="D4E0E6"/>
                </a:solidFill>
              </a:rPr>
              <a:t>No hardcoded sample answers</a:t>
            </a:r>
          </a:p>
        </p:txBody>
      </p:sp>
      <p:sp>
        <p:nvSpPr>
          <p:cNvPr id="11" name="close-check-3">
            <a:extLst xmlns:a="http://schemas.openxmlformats.org/drawingml/2006/main">
              <a:ext uri="{FF2B5EF4-FFF2-40B4-BE49-F238E27FC236}">
                <a16:creationId xmlns:a16="http://schemas.microsoft.com/office/drawing/2014/main" id="{546A1A2F-C1CB-4646-8270-F739641B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B6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lose-item-3">
            <a:extLst xmlns:a="http://schemas.openxmlformats.org/drawingml/2006/main">
              <a:ext uri="{FF2B5EF4-FFF2-40B4-BE49-F238E27FC236}">
                <a16:creationId xmlns:a16="http://schemas.microsoft.com/office/drawing/2014/main" id="{27AD67D5-ADBF-443E-9608-66B46C85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0065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E0E6"/>
                </a:solidFill>
              </a:defRPr>
            </a:pPr>
            <a:r>
              <a:rPr sz="1350" b="0">
                <a:solidFill>
                  <a:srgbClr val="D4E0E6"/>
                </a:solidFill>
              </a:rPr>
              <a:t>Safe fallback and exit code 0</a:t>
            </a:r>
          </a:p>
        </p:txBody>
      </p:sp>
      <p:sp>
        <p:nvSpPr>
          <p:cNvPr id="13" name="close-brand">
            <a:extLst xmlns:a="http://schemas.openxmlformats.org/drawingml/2006/main">
              <a:ext uri="{FF2B5EF4-FFF2-40B4-BE49-F238E27FC236}">
                <a16:creationId xmlns:a16="http://schemas.microsoft.com/office/drawing/2014/main" id="{837C1E47-39F2-4E58-A5A6-95899B11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67425"/>
            <a:ext cx="561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LunaLens Video Captioning Agent</a:t>
            </a:r>
          </a:p>
        </p:txBody>
      </p:sp>
      <p:sp>
        <p:nvSpPr>
          <p:cNvPr id="14" name="footer-7">
            <a:extLst xmlns:a="http://schemas.openxmlformats.org/drawingml/2006/main">
              <a:ext uri="{FF2B5EF4-FFF2-40B4-BE49-F238E27FC236}">
                <a16:creationId xmlns:a16="http://schemas.microsoft.com/office/drawing/2014/main" id="{0C3B2EA3-6F64-458E-8CA8-BF514EEA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C7D1"/>
                </a:solidFill>
              </a:defRPr>
            </a:pPr>
            <a:r>
              <a:rPr sz="900" b="1">
                <a:solidFill>
                  <a:srgbClr val="B7C7D1"/>
                </a:solidFill>
              </a:rPr>
              <a:t>LUNALENS  |  AMD DEVELOPER HACKATHON ACT II</a:t>
            </a:r>
          </a:p>
        </p:txBody>
      </p:sp>
      <p:sp>
        <p:nvSpPr>
          <p:cNvPr id="15" name="page-7">
            <a:extLst xmlns:a="http://schemas.openxmlformats.org/drawingml/2006/main">
              <a:ext uri="{FF2B5EF4-FFF2-40B4-BE49-F238E27FC236}">
                <a16:creationId xmlns:a16="http://schemas.microsoft.com/office/drawing/2014/main" id="{C68E2937-1530-4489-BA49-2277BC68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7C7D1"/>
                </a:solidFill>
              </a:defRPr>
            </a:pPr>
            <a:r>
              <a:rPr sz="900" b="1">
                <a:solidFill>
                  <a:srgbClr val="B7C7D1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254714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2026-07-11T05:09:08.8300000Z</dcterms:created>
  <dcterms:modified xsi:type="dcterms:W3CDTF">2026-07-11T05:09:08.8300000Z</dcterms:modified>
</coreProperties>
</file>